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05840"/>
            <a:ext cx="9144000" cy="274320"/>
          </a:xfrm>
          <a:prstGeom prst="rect">
            <a:avLst/>
          </a:prstGeom>
          <a:noFill/>
        </p:spPr>
        <p:txBody>
          <a:bodyPr wrap="square">
            <a:spAutoFit/>
          </a:bodyPr>
          <a:lstStyle/>
          <a:p>
            <a:pPr algn="l"/>
            <a:r>
              <a:rPr sz="900" b="1" i="0">
                <a:solidFill>
                  <a:srgbClr val="4FC3F7"/>
                </a:solidFill>
                <a:latin typeface="JetBrains Mono"/>
              </a:rPr>
              <a:t>COMMUNITY LAUNCH  •  FREE  •  NO LOGIN</a:t>
            </a:r>
          </a:p>
        </p:txBody>
      </p:sp>
      <p:sp>
        <p:nvSpPr>
          <p:cNvPr id="4" name="TextBox 3"/>
          <p:cNvSpPr txBox="1"/>
          <p:nvPr/>
        </p:nvSpPr>
        <p:spPr>
          <a:xfrm>
            <a:off x="457200" y="1463040"/>
            <a:ext cx="8229600" cy="2011680"/>
          </a:xfrm>
          <a:prstGeom prst="rect">
            <a:avLst/>
          </a:prstGeom>
          <a:noFill/>
        </p:spPr>
        <p:txBody>
          <a:bodyPr wrap="square">
            <a:spAutoFit/>
          </a:bodyPr>
          <a:lstStyle/>
          <a:p>
            <a:pPr algn="l"/>
            <a:r>
              <a:rPr sz="4400" b="1" i="0">
                <a:solidFill>
                  <a:srgbClr val="FFFFFF"/>
                </a:solidFill>
                <a:latin typeface="Inter"/>
              </a:rPr>
              <a:t>Multi-market stock signals.
Two frameworks. One verdict.</a:t>
            </a:r>
          </a:p>
        </p:txBody>
      </p:sp>
      <p:sp>
        <p:nvSpPr>
          <p:cNvPr id="5" name="Rectangle 4"/>
          <p:cNvSpPr/>
          <p:nvPr/>
        </p:nvSpPr>
        <p:spPr>
          <a:xfrm>
            <a:off x="457200" y="3611880"/>
            <a:ext cx="5029200" cy="36576"/>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749039"/>
            <a:ext cx="7315200" cy="914400"/>
          </a:xfrm>
          <a:prstGeom prst="rect">
            <a:avLst/>
          </a:prstGeom>
          <a:noFill/>
        </p:spPr>
        <p:txBody>
          <a:bodyPr wrap="square">
            <a:spAutoFit/>
          </a:bodyPr>
          <a:lstStyle/>
          <a:p>
            <a:pPr algn="l"/>
            <a:r>
              <a:rPr sz="1600" b="0" i="0">
                <a:solidFill>
                  <a:srgbClr val="7E8BA0"/>
                </a:solidFill>
                <a:latin typeface="Inter"/>
              </a:rPr>
              <a:t>Weinstein Stage + Elder Triple Screen → BUY / WATCH / AVOID
across 9 markets, 556 tickers — free, open-source, no account.</a:t>
            </a:r>
          </a:p>
        </p:txBody>
      </p:sp>
      <p:sp>
        <p:nvSpPr>
          <p:cNvPr id="7" name="TextBox 6"/>
          <p:cNvSpPr txBox="1"/>
          <p:nvPr/>
        </p:nvSpPr>
        <p:spPr>
          <a:xfrm>
            <a:off x="457200" y="4846320"/>
            <a:ext cx="1828800" cy="640080"/>
          </a:xfrm>
          <a:prstGeom prst="rect">
            <a:avLst/>
          </a:prstGeom>
          <a:noFill/>
        </p:spPr>
        <p:txBody>
          <a:bodyPr wrap="square">
            <a:spAutoFit/>
          </a:bodyPr>
          <a:lstStyle/>
          <a:p>
            <a:pPr algn="ctr"/>
            <a:r>
              <a:rPr sz="3600" b="1" i="0">
                <a:solidFill>
                  <a:srgbClr val="4FC3F7"/>
                </a:solidFill>
                <a:latin typeface="Inter"/>
              </a:rPr>
              <a:t>9</a:t>
            </a:r>
          </a:p>
        </p:txBody>
      </p:sp>
      <p:sp>
        <p:nvSpPr>
          <p:cNvPr id="8" name="TextBox 7"/>
          <p:cNvSpPr txBox="1"/>
          <p:nvPr/>
        </p:nvSpPr>
        <p:spPr>
          <a:xfrm>
            <a:off x="457200" y="5440680"/>
            <a:ext cx="1828800" cy="274320"/>
          </a:xfrm>
          <a:prstGeom prst="rect">
            <a:avLst/>
          </a:prstGeom>
          <a:noFill/>
        </p:spPr>
        <p:txBody>
          <a:bodyPr wrap="square">
            <a:spAutoFit/>
          </a:bodyPr>
          <a:lstStyle/>
          <a:p>
            <a:pPr algn="ctr"/>
            <a:r>
              <a:rPr sz="1100" b="0" i="0">
                <a:solidFill>
                  <a:srgbClr val="7E8BA0"/>
                </a:solidFill>
                <a:latin typeface="Inter"/>
              </a:rPr>
              <a:t>Markets</a:t>
            </a:r>
          </a:p>
        </p:txBody>
      </p:sp>
      <p:sp>
        <p:nvSpPr>
          <p:cNvPr id="9" name="TextBox 8"/>
          <p:cNvSpPr txBox="1"/>
          <p:nvPr/>
        </p:nvSpPr>
        <p:spPr>
          <a:xfrm>
            <a:off x="2468880" y="4846320"/>
            <a:ext cx="1828800" cy="640080"/>
          </a:xfrm>
          <a:prstGeom prst="rect">
            <a:avLst/>
          </a:prstGeom>
          <a:noFill/>
        </p:spPr>
        <p:txBody>
          <a:bodyPr wrap="square">
            <a:spAutoFit/>
          </a:bodyPr>
          <a:lstStyle/>
          <a:p>
            <a:pPr algn="ctr"/>
            <a:r>
              <a:rPr sz="3600" b="1" i="0">
                <a:solidFill>
                  <a:srgbClr val="4FC3F7"/>
                </a:solidFill>
                <a:latin typeface="Inter"/>
              </a:rPr>
              <a:t>556</a:t>
            </a:r>
          </a:p>
        </p:txBody>
      </p:sp>
      <p:sp>
        <p:nvSpPr>
          <p:cNvPr id="10" name="TextBox 9"/>
          <p:cNvSpPr txBox="1"/>
          <p:nvPr/>
        </p:nvSpPr>
        <p:spPr>
          <a:xfrm>
            <a:off x="2468880" y="5440680"/>
            <a:ext cx="1828800" cy="274320"/>
          </a:xfrm>
          <a:prstGeom prst="rect">
            <a:avLst/>
          </a:prstGeom>
          <a:noFill/>
        </p:spPr>
        <p:txBody>
          <a:bodyPr wrap="square">
            <a:spAutoFit/>
          </a:bodyPr>
          <a:lstStyle/>
          <a:p>
            <a:pPr algn="ctr"/>
            <a:r>
              <a:rPr sz="1100" b="0" i="0">
                <a:solidFill>
                  <a:srgbClr val="7E8BA0"/>
                </a:solidFill>
                <a:latin typeface="Inter"/>
              </a:rPr>
              <a:t>Tickers</a:t>
            </a:r>
          </a:p>
        </p:txBody>
      </p:sp>
      <p:sp>
        <p:nvSpPr>
          <p:cNvPr id="11" name="TextBox 10"/>
          <p:cNvSpPr txBox="1"/>
          <p:nvPr/>
        </p:nvSpPr>
        <p:spPr>
          <a:xfrm>
            <a:off x="4480560" y="4846320"/>
            <a:ext cx="1828800" cy="640080"/>
          </a:xfrm>
          <a:prstGeom prst="rect">
            <a:avLst/>
          </a:prstGeom>
          <a:noFill/>
        </p:spPr>
        <p:txBody>
          <a:bodyPr wrap="square">
            <a:spAutoFit/>
          </a:bodyPr>
          <a:lstStyle/>
          <a:p>
            <a:pPr algn="ctr"/>
            <a:r>
              <a:rPr sz="3600" b="1" i="0">
                <a:solidFill>
                  <a:srgbClr val="4FC3F7"/>
                </a:solidFill>
                <a:latin typeface="Inter"/>
              </a:rPr>
              <a:t>38</a:t>
            </a:r>
          </a:p>
        </p:txBody>
      </p:sp>
      <p:sp>
        <p:nvSpPr>
          <p:cNvPr id="12" name="TextBox 11"/>
          <p:cNvSpPr txBox="1"/>
          <p:nvPr/>
        </p:nvSpPr>
        <p:spPr>
          <a:xfrm>
            <a:off x="4480560" y="5440680"/>
            <a:ext cx="1828800" cy="274320"/>
          </a:xfrm>
          <a:prstGeom prst="rect">
            <a:avLst/>
          </a:prstGeom>
          <a:noFill/>
        </p:spPr>
        <p:txBody>
          <a:bodyPr wrap="square">
            <a:spAutoFit/>
          </a:bodyPr>
          <a:lstStyle/>
          <a:p>
            <a:pPr algn="ctr"/>
            <a:r>
              <a:rPr sz="1100" b="0" i="0">
                <a:solidFill>
                  <a:srgbClr val="7E8BA0"/>
                </a:solidFill>
                <a:latin typeface="Inter"/>
              </a:rPr>
              <a:t>Groups</a:t>
            </a:r>
          </a:p>
        </p:txBody>
      </p:sp>
      <p:sp>
        <p:nvSpPr>
          <p:cNvPr id="13" name="TextBox 12"/>
          <p:cNvSpPr txBox="1"/>
          <p:nvPr/>
        </p:nvSpPr>
        <p:spPr>
          <a:xfrm>
            <a:off x="6492240" y="4846320"/>
            <a:ext cx="1828800" cy="640080"/>
          </a:xfrm>
          <a:prstGeom prst="rect">
            <a:avLst/>
          </a:prstGeom>
          <a:noFill/>
        </p:spPr>
        <p:txBody>
          <a:bodyPr wrap="square">
            <a:spAutoFit/>
          </a:bodyPr>
          <a:lstStyle/>
          <a:p>
            <a:pPr algn="ctr"/>
            <a:r>
              <a:rPr sz="3600" b="1" i="0">
                <a:solidFill>
                  <a:srgbClr val="4FC3F7"/>
                </a:solidFill>
                <a:latin typeface="Inter"/>
              </a:rPr>
              <a:t>Free</a:t>
            </a:r>
          </a:p>
        </p:txBody>
      </p:sp>
      <p:sp>
        <p:nvSpPr>
          <p:cNvPr id="14" name="TextBox 13"/>
          <p:cNvSpPr txBox="1"/>
          <p:nvPr/>
        </p:nvSpPr>
        <p:spPr>
          <a:xfrm>
            <a:off x="6492240" y="5440680"/>
            <a:ext cx="1828800" cy="274320"/>
          </a:xfrm>
          <a:prstGeom prst="rect">
            <a:avLst/>
          </a:prstGeom>
          <a:noFill/>
        </p:spPr>
        <p:txBody>
          <a:bodyPr wrap="square">
            <a:spAutoFit/>
          </a:bodyPr>
          <a:lstStyle/>
          <a:p>
            <a:pPr algn="ctr"/>
            <a:r>
              <a:rPr sz="1100" b="0" i="0">
                <a:solidFill>
                  <a:srgbClr val="7E8BA0"/>
                </a:solidFill>
                <a:latin typeface="Inter"/>
              </a:rPr>
              <a:t>Always</a:t>
            </a:r>
          </a:p>
        </p:txBody>
      </p:sp>
      <p:sp>
        <p:nvSpPr>
          <p:cNvPr id="15" name="Rectangle 14"/>
          <p:cNvSpPr/>
          <p:nvPr/>
        </p:nvSpPr>
        <p:spPr>
          <a:xfrm>
            <a:off x="8686800" y="914400"/>
            <a:ext cx="3200400" cy="50292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0" y="3474720"/>
            <a:ext cx="3200400" cy="457200"/>
          </a:xfrm>
          <a:prstGeom prst="rect">
            <a:avLst/>
          </a:prstGeom>
          <a:noFill/>
        </p:spPr>
        <p:txBody>
          <a:bodyPr wrap="square">
            <a:spAutoFit/>
          </a:bodyPr>
          <a:lstStyle/>
          <a:p>
            <a:pPr algn="ctr"/>
            <a:r>
              <a:rPr sz="1100" b="0" i="1">
                <a:solidFill>
                  <a:srgbClr val="7E8BA0"/>
                </a:solidFill>
                <a:latin typeface="Inter"/>
              </a:rPr>
              <a:t>[ App Screenshot ]</a:t>
            </a:r>
          </a:p>
        </p:txBody>
      </p:sp>
      <p:sp>
        <p:nvSpPr>
          <p:cNvPr id="17" name="TextBox 16"/>
          <p:cNvSpPr txBox="1"/>
          <p:nvPr/>
        </p:nvSpPr>
        <p:spPr>
          <a:xfrm>
            <a:off x="11430000" y="6492240"/>
            <a:ext cx="640080" cy="274320"/>
          </a:xfrm>
          <a:prstGeom prst="rect">
            <a:avLst/>
          </a:prstGeom>
          <a:noFill/>
        </p:spPr>
        <p:txBody>
          <a:bodyPr wrap="square">
            <a:spAutoFit/>
          </a:bodyPr>
          <a:lstStyle/>
          <a:p>
            <a:pPr algn="r"/>
            <a:r>
              <a:rPr sz="800" b="0" i="0">
                <a:solidFill>
                  <a:srgbClr val="7E8BA0"/>
                </a:solidFill>
                <a:latin typeface="Inter"/>
              </a:rPr>
              <a:t>1 / 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73152" cy="685800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2286000" cy="274320"/>
          </a:xfrm>
          <a:prstGeom prst="rect">
            <a:avLst/>
          </a:prstGeom>
          <a:noFill/>
        </p:spPr>
        <p:txBody>
          <a:bodyPr wrap="square">
            <a:spAutoFit/>
          </a:bodyPr>
          <a:lstStyle/>
          <a:p>
            <a:pPr algn="l"/>
            <a:r>
              <a:rPr sz="900" b="1" i="0">
                <a:solidFill>
                  <a:srgbClr val="4FC3F7"/>
                </a:solidFill>
                <a:latin typeface="JetBrains Mono"/>
              </a:rPr>
              <a:t>THE PROBLEM</a:t>
            </a:r>
          </a:p>
        </p:txBody>
      </p:sp>
      <p:sp>
        <p:nvSpPr>
          <p:cNvPr id="4" name="TextBox 3"/>
          <p:cNvSpPr txBox="1"/>
          <p:nvPr/>
        </p:nvSpPr>
        <p:spPr>
          <a:xfrm>
            <a:off x="457200" y="777240"/>
            <a:ext cx="10972800" cy="640080"/>
          </a:xfrm>
          <a:prstGeom prst="rect">
            <a:avLst/>
          </a:prstGeom>
          <a:noFill/>
        </p:spPr>
        <p:txBody>
          <a:bodyPr wrap="square">
            <a:spAutoFit/>
          </a:bodyPr>
          <a:lstStyle/>
          <a:p>
            <a:pPr algn="l"/>
            <a:r>
              <a:rPr sz="3400" b="1" i="0">
                <a:solidFill>
                  <a:srgbClr val="FFFFFF"/>
                </a:solidFill>
                <a:latin typeface="Inter"/>
              </a:rPr>
              <a:t>Retail investors face a bad trade-off.</a:t>
            </a:r>
          </a:p>
        </p:txBody>
      </p:sp>
      <p:sp>
        <p:nvSpPr>
          <p:cNvPr id="5" name="Rectangle 4"/>
          <p:cNvSpPr/>
          <p:nvPr/>
        </p:nvSpPr>
        <p:spPr>
          <a:xfrm>
            <a:off x="457200" y="1600200"/>
            <a:ext cx="11064240" cy="27432"/>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20240"/>
            <a:ext cx="3566160" cy="34747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03120"/>
            <a:ext cx="548640" cy="548640"/>
          </a:xfrm>
          <a:prstGeom prst="rect">
            <a:avLst/>
          </a:prstGeom>
          <a:noFill/>
        </p:spPr>
        <p:txBody>
          <a:bodyPr wrap="square">
            <a:spAutoFit/>
          </a:bodyPr>
          <a:lstStyle/>
          <a:p>
            <a:pPr algn="l"/>
            <a:r>
              <a:rPr sz="2800" b="0" i="0">
                <a:solidFill>
                  <a:srgbClr val="FFFFFF"/>
                </a:solidFill>
                <a:latin typeface="Inter"/>
              </a:rPr>
              <a:t>💸</a:t>
            </a:r>
          </a:p>
        </p:txBody>
      </p:sp>
      <p:sp>
        <p:nvSpPr>
          <p:cNvPr id="8" name="TextBox 7"/>
          <p:cNvSpPr txBox="1"/>
          <p:nvPr/>
        </p:nvSpPr>
        <p:spPr>
          <a:xfrm>
            <a:off x="640080" y="2743200"/>
            <a:ext cx="3200400" cy="457200"/>
          </a:xfrm>
          <a:prstGeom prst="rect">
            <a:avLst/>
          </a:prstGeom>
          <a:noFill/>
        </p:spPr>
        <p:txBody>
          <a:bodyPr wrap="square">
            <a:spAutoFit/>
          </a:bodyPr>
          <a:lstStyle/>
          <a:p>
            <a:pPr algn="l"/>
            <a:r>
              <a:rPr sz="1500" b="1" i="0">
                <a:solidFill>
                  <a:srgbClr val="FFFFFF"/>
                </a:solidFill>
                <a:latin typeface="Inter"/>
              </a:rPr>
              <a:t>TradingView Pro</a:t>
            </a:r>
          </a:p>
        </p:txBody>
      </p:sp>
      <p:sp>
        <p:nvSpPr>
          <p:cNvPr id="9" name="TextBox 8"/>
          <p:cNvSpPr txBox="1"/>
          <p:nvPr/>
        </p:nvSpPr>
        <p:spPr>
          <a:xfrm>
            <a:off x="640080" y="3246120"/>
            <a:ext cx="3200400" cy="1645920"/>
          </a:xfrm>
          <a:prstGeom prst="rect">
            <a:avLst/>
          </a:prstGeom>
          <a:noFill/>
        </p:spPr>
        <p:txBody>
          <a:bodyPr wrap="square">
            <a:spAutoFit/>
          </a:bodyPr>
          <a:lstStyle/>
          <a:p>
            <a:pPr algn="l"/>
            <a:r>
              <a:rPr sz="1200" b="0" i="0">
                <a:solidFill>
                  <a:srgbClr val="7E8BA0"/>
                </a:solidFill>
                <a:latin typeface="Inter"/>
              </a:rPr>
              <a:t>₹1,200/month for Weinstein Stage + proper indicators.
Most retail investors hit the free tier ceiling.</a:t>
            </a:r>
          </a:p>
        </p:txBody>
      </p:sp>
      <p:sp>
        <p:nvSpPr>
          <p:cNvPr id="10" name="Rectangle 9"/>
          <p:cNvSpPr/>
          <p:nvPr/>
        </p:nvSpPr>
        <p:spPr>
          <a:xfrm>
            <a:off x="4297680" y="1920240"/>
            <a:ext cx="3566160" cy="34747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2103120"/>
            <a:ext cx="548640" cy="548640"/>
          </a:xfrm>
          <a:prstGeom prst="rect">
            <a:avLst/>
          </a:prstGeom>
          <a:noFill/>
        </p:spPr>
        <p:txBody>
          <a:bodyPr wrap="square">
            <a:spAutoFit/>
          </a:bodyPr>
          <a:lstStyle/>
          <a:p>
            <a:pPr algn="l"/>
            <a:r>
              <a:rPr sz="2800" b="0" i="0">
                <a:solidFill>
                  <a:srgbClr val="FFFFFF"/>
                </a:solidFill>
                <a:latin typeface="Inter"/>
              </a:rPr>
              <a:t>🇺🇸</a:t>
            </a:r>
          </a:p>
        </p:txBody>
      </p:sp>
      <p:sp>
        <p:nvSpPr>
          <p:cNvPr id="12" name="TextBox 11"/>
          <p:cNvSpPr txBox="1"/>
          <p:nvPr/>
        </p:nvSpPr>
        <p:spPr>
          <a:xfrm>
            <a:off x="4480560" y="2743200"/>
            <a:ext cx="3200400" cy="457200"/>
          </a:xfrm>
          <a:prstGeom prst="rect">
            <a:avLst/>
          </a:prstGeom>
          <a:noFill/>
        </p:spPr>
        <p:txBody>
          <a:bodyPr wrap="square">
            <a:spAutoFit/>
          </a:bodyPr>
          <a:lstStyle/>
          <a:p>
            <a:pPr algn="l"/>
            <a:r>
              <a:rPr sz="1500" b="1" i="0">
                <a:solidFill>
                  <a:srgbClr val="FFFFFF"/>
                </a:solidFill>
                <a:latin typeface="Inter"/>
              </a:rPr>
              <a:t>Yahoo Finance / Google</a:t>
            </a:r>
          </a:p>
        </p:txBody>
      </p:sp>
      <p:sp>
        <p:nvSpPr>
          <p:cNvPr id="13" name="TextBox 12"/>
          <p:cNvSpPr txBox="1"/>
          <p:nvPr/>
        </p:nvSpPr>
        <p:spPr>
          <a:xfrm>
            <a:off x="4480560" y="3246120"/>
            <a:ext cx="3200400" cy="1645920"/>
          </a:xfrm>
          <a:prstGeom prst="rect">
            <a:avLst/>
          </a:prstGeom>
          <a:noFill/>
        </p:spPr>
        <p:txBody>
          <a:bodyPr wrap="square">
            <a:spAutoFit/>
          </a:bodyPr>
          <a:lstStyle/>
          <a:p>
            <a:pPr algn="l"/>
            <a:r>
              <a:rPr sz="1200" b="0" i="0">
                <a:solidFill>
                  <a:srgbClr val="7E8BA0"/>
                </a:solidFill>
                <a:latin typeface="Inter"/>
              </a:rPr>
              <a:t>US-centric. No signal aggregation.
No Weinstein. No Elder. No unified verdict.</a:t>
            </a:r>
          </a:p>
        </p:txBody>
      </p:sp>
      <p:sp>
        <p:nvSpPr>
          <p:cNvPr id="14" name="Rectangle 13"/>
          <p:cNvSpPr/>
          <p:nvPr/>
        </p:nvSpPr>
        <p:spPr>
          <a:xfrm>
            <a:off x="8138160" y="1920240"/>
            <a:ext cx="3566160" cy="34747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103120"/>
            <a:ext cx="548640" cy="548640"/>
          </a:xfrm>
          <a:prstGeom prst="rect">
            <a:avLst/>
          </a:prstGeom>
          <a:noFill/>
        </p:spPr>
        <p:txBody>
          <a:bodyPr wrap="square">
            <a:spAutoFit/>
          </a:bodyPr>
          <a:lstStyle/>
          <a:p>
            <a:pPr algn="l"/>
            <a:r>
              <a:rPr sz="2800" b="0" i="0">
                <a:solidFill>
                  <a:srgbClr val="FFFFFF"/>
                </a:solidFill>
                <a:latin typeface="Inter"/>
              </a:rPr>
              <a:t>🇮🇳</a:t>
            </a:r>
          </a:p>
        </p:txBody>
      </p:sp>
      <p:sp>
        <p:nvSpPr>
          <p:cNvPr id="16" name="TextBox 15"/>
          <p:cNvSpPr txBox="1"/>
          <p:nvPr/>
        </p:nvSpPr>
        <p:spPr>
          <a:xfrm>
            <a:off x="8321040" y="2743200"/>
            <a:ext cx="3200400" cy="457200"/>
          </a:xfrm>
          <a:prstGeom prst="rect">
            <a:avLst/>
          </a:prstGeom>
          <a:noFill/>
        </p:spPr>
        <p:txBody>
          <a:bodyPr wrap="square">
            <a:spAutoFit/>
          </a:bodyPr>
          <a:lstStyle/>
          <a:p>
            <a:pPr algn="l"/>
            <a:r>
              <a:rPr sz="1500" b="1" i="0">
                <a:solidFill>
                  <a:srgbClr val="FFFFFF"/>
                </a:solidFill>
                <a:latin typeface="Inter"/>
              </a:rPr>
              <a:t>Screener.in / Tickertape</a:t>
            </a:r>
          </a:p>
        </p:txBody>
      </p:sp>
      <p:sp>
        <p:nvSpPr>
          <p:cNvPr id="17" name="TextBox 16"/>
          <p:cNvSpPr txBox="1"/>
          <p:nvPr/>
        </p:nvSpPr>
        <p:spPr>
          <a:xfrm>
            <a:off x="8321040" y="3246120"/>
            <a:ext cx="3200400" cy="1645920"/>
          </a:xfrm>
          <a:prstGeom prst="rect">
            <a:avLst/>
          </a:prstGeom>
          <a:noFill/>
        </p:spPr>
        <p:txBody>
          <a:bodyPr wrap="square">
            <a:spAutoFit/>
          </a:bodyPr>
          <a:lstStyle/>
          <a:p>
            <a:pPr algn="l"/>
            <a:r>
              <a:rPr sz="1200" b="0" i="0">
                <a:solidFill>
                  <a:srgbClr val="7E8BA0"/>
                </a:solidFill>
                <a:latin typeface="Inter"/>
              </a:rPr>
              <a:t>India-only. Fundamental-heavy.
No technical signal framework.</a:t>
            </a:r>
          </a:p>
        </p:txBody>
      </p:sp>
      <p:sp>
        <p:nvSpPr>
          <p:cNvPr id="18" name="TextBox 17"/>
          <p:cNvSpPr txBox="1"/>
          <p:nvPr/>
        </p:nvSpPr>
        <p:spPr>
          <a:xfrm>
            <a:off x="457200" y="5760720"/>
            <a:ext cx="11064240" cy="457200"/>
          </a:xfrm>
          <a:prstGeom prst="rect">
            <a:avLst/>
          </a:prstGeom>
          <a:noFill/>
        </p:spPr>
        <p:txBody>
          <a:bodyPr wrap="square">
            <a:spAutoFit/>
          </a:bodyPr>
          <a:lstStyle/>
          <a:p>
            <a:pPr algn="ctr"/>
            <a:r>
              <a:rPr sz="1400" b="1" i="0">
                <a:solidFill>
                  <a:srgbClr val="4FC3F7"/>
                </a:solidFill>
                <a:latin typeface="Inter"/>
              </a:rPr>
              <a:t>The gap: institutional-grade technical analysis, accessible to everyone, across global markets.</a:t>
            </a:r>
          </a:p>
        </p:txBody>
      </p:sp>
      <p:sp>
        <p:nvSpPr>
          <p:cNvPr id="19" name="TextBox 18"/>
          <p:cNvSpPr txBox="1"/>
          <p:nvPr/>
        </p:nvSpPr>
        <p:spPr>
          <a:xfrm>
            <a:off x="11430000" y="6492240"/>
            <a:ext cx="640080" cy="274320"/>
          </a:xfrm>
          <a:prstGeom prst="rect">
            <a:avLst/>
          </a:prstGeom>
          <a:noFill/>
        </p:spPr>
        <p:txBody>
          <a:bodyPr wrap="square">
            <a:spAutoFit/>
          </a:bodyPr>
          <a:lstStyle/>
          <a:p>
            <a:pPr algn="r"/>
            <a:r>
              <a:rPr sz="800" b="0" i="0">
                <a:solidFill>
                  <a:srgbClr val="7E8BA0"/>
                </a:solidFill>
                <a:latin typeface="Inter"/>
              </a:rPr>
              <a:t>2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73152" cy="68580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2286000" cy="274320"/>
          </a:xfrm>
          <a:prstGeom prst="rect">
            <a:avLst/>
          </a:prstGeom>
          <a:noFill/>
        </p:spPr>
        <p:txBody>
          <a:bodyPr wrap="square">
            <a:spAutoFit/>
          </a:bodyPr>
          <a:lstStyle/>
          <a:p>
            <a:pPr algn="l"/>
            <a:r>
              <a:rPr sz="900" b="1" i="0">
                <a:solidFill>
                  <a:srgbClr val="4FC3F7"/>
                </a:solidFill>
                <a:latin typeface="JetBrains Mono"/>
              </a:rPr>
              <a:t>THE SOLUTION</a:t>
            </a:r>
          </a:p>
        </p:txBody>
      </p:sp>
      <p:sp>
        <p:nvSpPr>
          <p:cNvPr id="4" name="TextBox 3"/>
          <p:cNvSpPr txBox="1"/>
          <p:nvPr/>
        </p:nvSpPr>
        <p:spPr>
          <a:xfrm>
            <a:off x="457200" y="777240"/>
            <a:ext cx="10972800" cy="640080"/>
          </a:xfrm>
          <a:prstGeom prst="rect">
            <a:avLst/>
          </a:prstGeom>
          <a:noFill/>
        </p:spPr>
        <p:txBody>
          <a:bodyPr wrap="square">
            <a:spAutoFit/>
          </a:bodyPr>
          <a:lstStyle/>
          <a:p>
            <a:pPr algn="l"/>
            <a:r>
              <a:rPr sz="3400" b="1" i="0">
                <a:solidFill>
                  <a:srgbClr val="FFFFFF"/>
                </a:solidFill>
                <a:latin typeface="Inter"/>
              </a:rPr>
              <a:t>GSI Dashboard — free, open-source, no login.</a:t>
            </a:r>
          </a:p>
        </p:txBody>
      </p:sp>
      <p:sp>
        <p:nvSpPr>
          <p:cNvPr id="5" name="Rectangle 4"/>
          <p:cNvSpPr/>
          <p:nvPr/>
        </p:nvSpPr>
        <p:spPr>
          <a:xfrm>
            <a:off x="457200" y="1600200"/>
            <a:ext cx="11064240" cy="27432"/>
          </a:xfrm>
          <a:prstGeom prst="rect">
            <a:avLst/>
          </a:prstGeom>
          <a:solidFill>
            <a:srgbClr val="66B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20240"/>
            <a:ext cx="3566160" cy="19202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057400"/>
            <a:ext cx="457200" cy="457200"/>
          </a:xfrm>
          <a:prstGeom prst="rect">
            <a:avLst/>
          </a:prstGeom>
          <a:noFill/>
        </p:spPr>
        <p:txBody>
          <a:bodyPr wrap="square">
            <a:spAutoFit/>
          </a:bodyPr>
          <a:lstStyle/>
          <a:p>
            <a:pPr algn="l"/>
            <a:r>
              <a:rPr sz="2000" b="0" i="0">
                <a:solidFill>
                  <a:srgbClr val="FFFFFF"/>
                </a:solidFill>
                <a:latin typeface="Inter"/>
              </a:rPr>
              <a:t>📊</a:t>
            </a:r>
          </a:p>
        </p:txBody>
      </p:sp>
      <p:sp>
        <p:nvSpPr>
          <p:cNvPr id="8" name="TextBox 7"/>
          <p:cNvSpPr txBox="1"/>
          <p:nvPr/>
        </p:nvSpPr>
        <p:spPr>
          <a:xfrm>
            <a:off x="1097280" y="2057400"/>
            <a:ext cx="2834640" cy="411480"/>
          </a:xfrm>
          <a:prstGeom prst="rect">
            <a:avLst/>
          </a:prstGeom>
          <a:noFill/>
        </p:spPr>
        <p:txBody>
          <a:bodyPr wrap="square">
            <a:spAutoFit/>
          </a:bodyPr>
          <a:lstStyle/>
          <a:p>
            <a:pPr algn="l"/>
            <a:r>
              <a:rPr sz="1300" b="1" i="0">
                <a:solidFill>
                  <a:srgbClr val="FFFFFF"/>
                </a:solidFill>
                <a:latin typeface="Inter"/>
              </a:rPr>
              <a:t>4-Tab Stock Dashboard</a:t>
            </a:r>
          </a:p>
        </p:txBody>
      </p:sp>
      <p:sp>
        <p:nvSpPr>
          <p:cNvPr id="9" name="TextBox 8"/>
          <p:cNvSpPr txBox="1"/>
          <p:nvPr/>
        </p:nvSpPr>
        <p:spPr>
          <a:xfrm>
            <a:off x="594360" y="2514600"/>
            <a:ext cx="3291840" cy="1097280"/>
          </a:xfrm>
          <a:prstGeom prst="rect">
            <a:avLst/>
          </a:prstGeom>
          <a:noFill/>
        </p:spPr>
        <p:txBody>
          <a:bodyPr wrap="square">
            <a:spAutoFit/>
          </a:bodyPr>
          <a:lstStyle/>
          <a:p>
            <a:pPr algn="l"/>
            <a:r>
              <a:rPr sz="1100" b="0" i="0">
                <a:solidFill>
                  <a:srgbClr val="7E8BA0"/>
                </a:solidFill>
                <a:latin typeface="Inter"/>
              </a:rPr>
              <a:t>Charts · Forecast · Compare · Insights
For every ticker in your watchlist.</a:t>
            </a:r>
          </a:p>
        </p:txBody>
      </p:sp>
      <p:sp>
        <p:nvSpPr>
          <p:cNvPr id="10" name="Rectangle 9"/>
          <p:cNvSpPr/>
          <p:nvPr/>
        </p:nvSpPr>
        <p:spPr>
          <a:xfrm>
            <a:off x="4297680" y="1920240"/>
            <a:ext cx="3566160" cy="19202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057400"/>
            <a:ext cx="457200" cy="457200"/>
          </a:xfrm>
          <a:prstGeom prst="rect">
            <a:avLst/>
          </a:prstGeom>
          <a:noFill/>
        </p:spPr>
        <p:txBody>
          <a:bodyPr wrap="square">
            <a:spAutoFit/>
          </a:bodyPr>
          <a:lstStyle/>
          <a:p>
            <a:pPr algn="l"/>
            <a:r>
              <a:rPr sz="2000" b="0" i="0">
                <a:solidFill>
                  <a:srgbClr val="FFFFFF"/>
                </a:solidFill>
                <a:latin typeface="Inter"/>
              </a:rPr>
              <a:t>🌍</a:t>
            </a:r>
          </a:p>
        </p:txBody>
      </p:sp>
      <p:sp>
        <p:nvSpPr>
          <p:cNvPr id="12" name="TextBox 11"/>
          <p:cNvSpPr txBox="1"/>
          <p:nvPr/>
        </p:nvSpPr>
        <p:spPr>
          <a:xfrm>
            <a:off x="4937760" y="2057400"/>
            <a:ext cx="2834640" cy="411480"/>
          </a:xfrm>
          <a:prstGeom prst="rect">
            <a:avLst/>
          </a:prstGeom>
          <a:noFill/>
        </p:spPr>
        <p:txBody>
          <a:bodyPr wrap="square">
            <a:spAutoFit/>
          </a:bodyPr>
          <a:lstStyle/>
          <a:p>
            <a:pPr algn="l"/>
            <a:r>
              <a:rPr sz="1300" b="1" i="0">
                <a:solidFill>
                  <a:srgbClr val="FFFFFF"/>
                </a:solidFill>
                <a:latin typeface="Inter"/>
              </a:rPr>
              <a:t>Global Intelligence</a:t>
            </a:r>
          </a:p>
        </p:txBody>
      </p:sp>
      <p:sp>
        <p:nvSpPr>
          <p:cNvPr id="13" name="TextBox 12"/>
          <p:cNvSpPr txBox="1"/>
          <p:nvPr/>
        </p:nvSpPr>
        <p:spPr>
          <a:xfrm>
            <a:off x="4434840" y="2514600"/>
            <a:ext cx="3291840" cy="1097280"/>
          </a:xfrm>
          <a:prstGeom prst="rect">
            <a:avLst/>
          </a:prstGeom>
          <a:noFill/>
        </p:spPr>
        <p:txBody>
          <a:bodyPr wrap="square">
            <a:spAutoFit/>
          </a:bodyPr>
          <a:lstStyle/>
          <a:p>
            <a:pPr algn="l"/>
            <a:r>
              <a:rPr sz="1100" b="0" i="0">
                <a:solidFill>
                  <a:srgbClr val="7E8BA0"/>
                </a:solidFill>
                <a:latin typeface="Inter"/>
              </a:rPr>
              <a:t>Geopolitical events → sector impact chains.
Macro context with one click.</a:t>
            </a:r>
          </a:p>
        </p:txBody>
      </p:sp>
      <p:sp>
        <p:nvSpPr>
          <p:cNvPr id="14" name="Rectangle 13"/>
          <p:cNvSpPr/>
          <p:nvPr/>
        </p:nvSpPr>
        <p:spPr>
          <a:xfrm>
            <a:off x="8138160" y="1920240"/>
            <a:ext cx="3566160" cy="19202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057400"/>
            <a:ext cx="457200" cy="457200"/>
          </a:xfrm>
          <a:prstGeom prst="rect">
            <a:avLst/>
          </a:prstGeom>
          <a:noFill/>
        </p:spPr>
        <p:txBody>
          <a:bodyPr wrap="square">
            <a:spAutoFit/>
          </a:bodyPr>
          <a:lstStyle/>
          <a:p>
            <a:pPr algn="l"/>
            <a:r>
              <a:rPr sz="2000" b="0" i="0">
                <a:solidFill>
                  <a:srgbClr val="FFFFFF"/>
                </a:solidFill>
                <a:latin typeface="Inter"/>
              </a:rPr>
              <a:t>📅</a:t>
            </a:r>
          </a:p>
        </p:txBody>
      </p:sp>
      <p:sp>
        <p:nvSpPr>
          <p:cNvPr id="16" name="TextBox 15"/>
          <p:cNvSpPr txBox="1"/>
          <p:nvPr/>
        </p:nvSpPr>
        <p:spPr>
          <a:xfrm>
            <a:off x="8778240" y="2057400"/>
            <a:ext cx="2834640" cy="411480"/>
          </a:xfrm>
          <a:prstGeom prst="rect">
            <a:avLst/>
          </a:prstGeom>
          <a:noFill/>
        </p:spPr>
        <p:txBody>
          <a:bodyPr wrap="square">
            <a:spAutoFit/>
          </a:bodyPr>
          <a:lstStyle/>
          <a:p>
            <a:pPr algn="l"/>
            <a:r>
              <a:rPr sz="1300" b="1" i="0">
                <a:solidFill>
                  <a:srgbClr val="FFFFFF"/>
                </a:solidFill>
                <a:latin typeface="Inter"/>
              </a:rPr>
              <a:t>Week Summary</a:t>
            </a:r>
          </a:p>
        </p:txBody>
      </p:sp>
      <p:sp>
        <p:nvSpPr>
          <p:cNvPr id="17" name="TextBox 16"/>
          <p:cNvSpPr txBox="1"/>
          <p:nvPr/>
        </p:nvSpPr>
        <p:spPr>
          <a:xfrm>
            <a:off x="8275320" y="2514600"/>
            <a:ext cx="3291840" cy="1097280"/>
          </a:xfrm>
          <a:prstGeom prst="rect">
            <a:avLst/>
          </a:prstGeom>
          <a:noFill/>
        </p:spPr>
        <p:txBody>
          <a:bodyPr wrap="square">
            <a:spAutoFit/>
          </a:bodyPr>
          <a:lstStyle/>
          <a:p>
            <a:pPr algn="l"/>
            <a:r>
              <a:rPr sz="1100" b="0" i="0">
                <a:solidFill>
                  <a:srgbClr val="7E8BA0"/>
                </a:solidFill>
                <a:latin typeface="Inter"/>
              </a:rPr>
              <a:t>Market + group overview every week.
Top movers. Signal heatmap.</a:t>
            </a:r>
          </a:p>
        </p:txBody>
      </p:sp>
      <p:sp>
        <p:nvSpPr>
          <p:cNvPr id="18" name="Rectangle 17"/>
          <p:cNvSpPr/>
          <p:nvPr/>
        </p:nvSpPr>
        <p:spPr>
          <a:xfrm>
            <a:off x="457200" y="4069080"/>
            <a:ext cx="3566160" cy="19202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206240"/>
            <a:ext cx="457200" cy="457200"/>
          </a:xfrm>
          <a:prstGeom prst="rect">
            <a:avLst/>
          </a:prstGeom>
          <a:noFill/>
        </p:spPr>
        <p:txBody>
          <a:bodyPr wrap="square">
            <a:spAutoFit/>
          </a:bodyPr>
          <a:lstStyle/>
          <a:p>
            <a:pPr algn="l"/>
            <a:r>
              <a:rPr sz="2000" b="0" i="0">
                <a:solidFill>
                  <a:srgbClr val="FFFFFF"/>
                </a:solidFill>
                <a:latin typeface="Inter"/>
              </a:rPr>
              <a:t>⚖️</a:t>
            </a:r>
          </a:p>
        </p:txBody>
      </p:sp>
      <p:sp>
        <p:nvSpPr>
          <p:cNvPr id="20" name="TextBox 19"/>
          <p:cNvSpPr txBox="1"/>
          <p:nvPr/>
        </p:nvSpPr>
        <p:spPr>
          <a:xfrm>
            <a:off x="1097280" y="4206240"/>
            <a:ext cx="2834640" cy="411480"/>
          </a:xfrm>
          <a:prstGeom prst="rect">
            <a:avLst/>
          </a:prstGeom>
          <a:noFill/>
        </p:spPr>
        <p:txBody>
          <a:bodyPr wrap="square">
            <a:spAutoFit/>
          </a:bodyPr>
          <a:lstStyle/>
          <a:p>
            <a:pPr algn="l"/>
            <a:r>
              <a:rPr sz="1300" b="1" i="0">
                <a:solidFill>
                  <a:srgbClr val="FFFFFF"/>
                </a:solidFill>
                <a:latin typeface="Inter"/>
              </a:rPr>
              <a:t>Portfolio Allocator</a:t>
            </a:r>
          </a:p>
        </p:txBody>
      </p:sp>
      <p:sp>
        <p:nvSpPr>
          <p:cNvPr id="21" name="TextBox 20"/>
          <p:cNvSpPr txBox="1"/>
          <p:nvPr/>
        </p:nvSpPr>
        <p:spPr>
          <a:xfrm>
            <a:off x="594360" y="4663440"/>
            <a:ext cx="3291840" cy="1097280"/>
          </a:xfrm>
          <a:prstGeom prst="rect">
            <a:avLst/>
          </a:prstGeom>
          <a:noFill/>
        </p:spPr>
        <p:txBody>
          <a:bodyPr wrap="square">
            <a:spAutoFit/>
          </a:bodyPr>
          <a:lstStyle/>
          <a:p>
            <a:pPr algn="l"/>
            <a:r>
              <a:rPr sz="1100" b="0" i="0">
                <a:solidFill>
                  <a:srgbClr val="7E8BA0"/>
                </a:solidFill>
                <a:latin typeface="Inter"/>
              </a:rPr>
              <a:t>Mean-CVaR optimisation. Stress regime
detection. No Bloomberg required.</a:t>
            </a:r>
          </a:p>
        </p:txBody>
      </p:sp>
      <p:sp>
        <p:nvSpPr>
          <p:cNvPr id="22" name="Rectangle 21"/>
          <p:cNvSpPr/>
          <p:nvPr/>
        </p:nvSpPr>
        <p:spPr>
          <a:xfrm>
            <a:off x="4297680" y="4069080"/>
            <a:ext cx="3566160" cy="19202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4206240"/>
            <a:ext cx="457200" cy="457200"/>
          </a:xfrm>
          <a:prstGeom prst="rect">
            <a:avLst/>
          </a:prstGeom>
          <a:noFill/>
        </p:spPr>
        <p:txBody>
          <a:bodyPr wrap="square">
            <a:spAutoFit/>
          </a:bodyPr>
          <a:lstStyle/>
          <a:p>
            <a:pPr algn="l"/>
            <a:r>
              <a:rPr sz="2000" b="0" i="0">
                <a:solidFill>
                  <a:srgbClr val="FFFFFF"/>
                </a:solidFill>
                <a:latin typeface="Inter"/>
              </a:rPr>
              <a:t>📈</a:t>
            </a:r>
          </a:p>
        </p:txBody>
      </p:sp>
      <p:sp>
        <p:nvSpPr>
          <p:cNvPr id="24" name="TextBox 23"/>
          <p:cNvSpPr txBox="1"/>
          <p:nvPr/>
        </p:nvSpPr>
        <p:spPr>
          <a:xfrm>
            <a:off x="4937760" y="4206240"/>
            <a:ext cx="2834640" cy="411480"/>
          </a:xfrm>
          <a:prstGeom prst="rect">
            <a:avLst/>
          </a:prstGeom>
          <a:noFill/>
        </p:spPr>
        <p:txBody>
          <a:bodyPr wrap="square">
            <a:spAutoFit/>
          </a:bodyPr>
          <a:lstStyle/>
          <a:p>
            <a:pPr algn="l"/>
            <a:r>
              <a:rPr sz="1300" b="1" i="0">
                <a:solidFill>
                  <a:srgbClr val="FFFFFF"/>
                </a:solidFill>
                <a:latin typeface="Inter"/>
              </a:rPr>
              <a:t>Live Ticker Bar</a:t>
            </a:r>
          </a:p>
        </p:txBody>
      </p:sp>
      <p:sp>
        <p:nvSpPr>
          <p:cNvPr id="25" name="TextBox 24"/>
          <p:cNvSpPr txBox="1"/>
          <p:nvPr/>
        </p:nvSpPr>
        <p:spPr>
          <a:xfrm>
            <a:off x="4434840" y="4663440"/>
            <a:ext cx="3291840" cy="1097280"/>
          </a:xfrm>
          <a:prstGeom prst="rect">
            <a:avLst/>
          </a:prstGeom>
          <a:noFill/>
        </p:spPr>
        <p:txBody>
          <a:bodyPr wrap="square">
            <a:spAutoFit/>
          </a:bodyPr>
          <a:lstStyle/>
          <a:p>
            <a:pPr algn="l"/>
            <a:r>
              <a:rPr sz="1100" b="0" i="0">
                <a:solidFill>
                  <a:srgbClr val="7E8BA0"/>
                </a:solidFill>
                <a:latin typeface="Inter"/>
              </a:rPr>
              <a:t>Real-time price movement across
all markets. Refreshes every 5s.</a:t>
            </a:r>
          </a:p>
        </p:txBody>
      </p:sp>
      <p:sp>
        <p:nvSpPr>
          <p:cNvPr id="26" name="Rectangle 25"/>
          <p:cNvSpPr/>
          <p:nvPr/>
        </p:nvSpPr>
        <p:spPr>
          <a:xfrm>
            <a:off x="8138160" y="4069080"/>
            <a:ext cx="3566160" cy="19202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20" y="4206240"/>
            <a:ext cx="457200" cy="457200"/>
          </a:xfrm>
          <a:prstGeom prst="rect">
            <a:avLst/>
          </a:prstGeom>
          <a:noFill/>
        </p:spPr>
        <p:txBody>
          <a:bodyPr wrap="square">
            <a:spAutoFit/>
          </a:bodyPr>
          <a:lstStyle/>
          <a:p>
            <a:pPr algn="l"/>
            <a:r>
              <a:rPr sz="2000" b="0" i="0">
                <a:solidFill>
                  <a:srgbClr val="FFFFFF"/>
                </a:solidFill>
                <a:latin typeface="Inter"/>
              </a:rPr>
              <a:t>🔔</a:t>
            </a:r>
          </a:p>
        </p:txBody>
      </p:sp>
      <p:sp>
        <p:nvSpPr>
          <p:cNvPr id="28" name="TextBox 27"/>
          <p:cNvSpPr txBox="1"/>
          <p:nvPr/>
        </p:nvSpPr>
        <p:spPr>
          <a:xfrm>
            <a:off x="8778240" y="4206240"/>
            <a:ext cx="2834640" cy="411480"/>
          </a:xfrm>
          <a:prstGeom prst="rect">
            <a:avLst/>
          </a:prstGeom>
          <a:noFill/>
        </p:spPr>
        <p:txBody>
          <a:bodyPr wrap="square">
            <a:spAutoFit/>
          </a:bodyPr>
          <a:lstStyle/>
          <a:p>
            <a:pPr algn="l"/>
            <a:r>
              <a:rPr sz="1300" b="1" i="0">
                <a:solidFill>
                  <a:srgbClr val="FFFFFF"/>
                </a:solidFill>
                <a:latin typeface="Inter"/>
              </a:rPr>
              <a:t>Forecast Tracker</a:t>
            </a:r>
          </a:p>
        </p:txBody>
      </p:sp>
      <p:sp>
        <p:nvSpPr>
          <p:cNvPr id="29" name="TextBox 28"/>
          <p:cNvSpPr txBox="1"/>
          <p:nvPr/>
        </p:nvSpPr>
        <p:spPr>
          <a:xfrm>
            <a:off x="8275320" y="4663440"/>
            <a:ext cx="3291840" cy="1097280"/>
          </a:xfrm>
          <a:prstGeom prst="rect">
            <a:avLst/>
          </a:prstGeom>
          <a:noFill/>
        </p:spPr>
        <p:txBody>
          <a:bodyPr wrap="square">
            <a:spAutoFit/>
          </a:bodyPr>
          <a:lstStyle/>
          <a:p>
            <a:pPr algn="l"/>
            <a:r>
              <a:rPr sz="1100" b="0" i="0">
                <a:solidFill>
                  <a:srgbClr val="7E8BA0"/>
                </a:solidFill>
                <a:latin typeface="Inter"/>
              </a:rPr>
              <a:t>Log your directional forecasts.
Track accuracy over time.</a:t>
            </a:r>
          </a:p>
        </p:txBody>
      </p:sp>
      <p:sp>
        <p:nvSpPr>
          <p:cNvPr id="30" name="TextBox 29"/>
          <p:cNvSpPr txBox="1"/>
          <p:nvPr/>
        </p:nvSpPr>
        <p:spPr>
          <a:xfrm>
            <a:off x="11430000" y="6492240"/>
            <a:ext cx="640080" cy="274320"/>
          </a:xfrm>
          <a:prstGeom prst="rect">
            <a:avLst/>
          </a:prstGeom>
          <a:noFill/>
        </p:spPr>
        <p:txBody>
          <a:bodyPr wrap="square">
            <a:spAutoFit/>
          </a:bodyPr>
          <a:lstStyle/>
          <a:p>
            <a:pPr algn="r"/>
            <a:r>
              <a:rPr sz="800" b="0" i="0">
                <a:solidFill>
                  <a:srgbClr val="7E8BA0"/>
                </a:solidFill>
                <a:latin typeface="Inter"/>
              </a:rPr>
              <a:t>3 /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2286000" cy="274320"/>
          </a:xfrm>
          <a:prstGeom prst="rect">
            <a:avLst/>
          </a:prstGeom>
          <a:noFill/>
        </p:spPr>
        <p:txBody>
          <a:bodyPr wrap="square">
            <a:spAutoFit/>
          </a:bodyPr>
          <a:lstStyle/>
          <a:p>
            <a:pPr algn="l"/>
            <a:r>
              <a:rPr sz="900" b="1" i="0">
                <a:solidFill>
                  <a:srgbClr val="4FC3F7"/>
                </a:solidFill>
                <a:latin typeface="JetBrains Mono"/>
              </a:rPr>
              <a:t>MARKET COVERAGE</a:t>
            </a:r>
          </a:p>
        </p:txBody>
      </p:sp>
      <p:sp>
        <p:nvSpPr>
          <p:cNvPr id="4" name="TextBox 3"/>
          <p:cNvSpPr txBox="1"/>
          <p:nvPr/>
        </p:nvSpPr>
        <p:spPr>
          <a:xfrm>
            <a:off x="457200" y="777240"/>
            <a:ext cx="10972800" cy="640080"/>
          </a:xfrm>
          <a:prstGeom prst="rect">
            <a:avLst/>
          </a:prstGeom>
          <a:noFill/>
        </p:spPr>
        <p:txBody>
          <a:bodyPr wrap="square">
            <a:spAutoFit/>
          </a:bodyPr>
          <a:lstStyle/>
          <a:p>
            <a:pPr algn="l"/>
            <a:r>
              <a:rPr sz="3400" b="1" i="0">
                <a:solidFill>
                  <a:srgbClr val="FFFFFF"/>
                </a:solidFill>
                <a:latin typeface="Inter"/>
              </a:rPr>
              <a:t>9 markets. One dashboard. Same signal engine.</a:t>
            </a:r>
          </a:p>
        </p:txBody>
      </p:sp>
      <p:sp>
        <p:nvSpPr>
          <p:cNvPr id="5" name="Rectangle 4"/>
          <p:cNvSpPr/>
          <p:nvPr/>
        </p:nvSpPr>
        <p:spPr>
          <a:xfrm>
            <a:off x="457200" y="1600200"/>
            <a:ext cx="11064240"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65960"/>
            <a:ext cx="3566160" cy="13716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075688"/>
            <a:ext cx="3291840" cy="365760"/>
          </a:xfrm>
          <a:prstGeom prst="rect">
            <a:avLst/>
          </a:prstGeom>
          <a:noFill/>
        </p:spPr>
        <p:txBody>
          <a:bodyPr wrap="square">
            <a:spAutoFit/>
          </a:bodyPr>
          <a:lstStyle/>
          <a:p>
            <a:pPr algn="l"/>
            <a:r>
              <a:rPr sz="1400" b="1" i="0">
                <a:solidFill>
                  <a:srgbClr val="FFFFFF"/>
                </a:solidFill>
                <a:latin typeface="Inter"/>
              </a:rPr>
              <a:t>🇮🇳  India</a:t>
            </a:r>
          </a:p>
        </p:txBody>
      </p:sp>
      <p:sp>
        <p:nvSpPr>
          <p:cNvPr id="8" name="TextBox 7"/>
          <p:cNvSpPr txBox="1"/>
          <p:nvPr/>
        </p:nvSpPr>
        <p:spPr>
          <a:xfrm>
            <a:off x="594360" y="2468880"/>
            <a:ext cx="3291840" cy="777240"/>
          </a:xfrm>
          <a:prstGeom prst="rect">
            <a:avLst/>
          </a:prstGeom>
          <a:noFill/>
        </p:spPr>
        <p:txBody>
          <a:bodyPr wrap="square">
            <a:spAutoFit/>
          </a:bodyPr>
          <a:lstStyle/>
          <a:p>
            <a:pPr algn="l"/>
            <a:r>
              <a:rPr sz="1000" b="0" i="0">
                <a:solidFill>
                  <a:srgbClr val="7E8BA0"/>
                </a:solidFill>
                <a:latin typeface="Inter"/>
              </a:rPr>
              <a:t>Nifty 50 · Next 50 · Midcap · Smallcap
Bank Nifty · IT · Pharma · FMCG</a:t>
            </a:r>
          </a:p>
        </p:txBody>
      </p:sp>
      <p:sp>
        <p:nvSpPr>
          <p:cNvPr id="9" name="Rectangle 8"/>
          <p:cNvSpPr/>
          <p:nvPr/>
        </p:nvSpPr>
        <p:spPr>
          <a:xfrm>
            <a:off x="4297680" y="1965960"/>
            <a:ext cx="3566160" cy="13716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2075688"/>
            <a:ext cx="3291840" cy="365760"/>
          </a:xfrm>
          <a:prstGeom prst="rect">
            <a:avLst/>
          </a:prstGeom>
          <a:noFill/>
        </p:spPr>
        <p:txBody>
          <a:bodyPr wrap="square">
            <a:spAutoFit/>
          </a:bodyPr>
          <a:lstStyle/>
          <a:p>
            <a:pPr algn="l"/>
            <a:r>
              <a:rPr sz="1400" b="1" i="0">
                <a:solidFill>
                  <a:srgbClr val="FFFFFF"/>
                </a:solidFill>
                <a:latin typeface="Inter"/>
              </a:rPr>
              <a:t>🇺🇸  USA</a:t>
            </a:r>
          </a:p>
        </p:txBody>
      </p:sp>
      <p:sp>
        <p:nvSpPr>
          <p:cNvPr id="11" name="TextBox 10"/>
          <p:cNvSpPr txBox="1"/>
          <p:nvPr/>
        </p:nvSpPr>
        <p:spPr>
          <a:xfrm>
            <a:off x="4434840" y="2468880"/>
            <a:ext cx="3291840" cy="777240"/>
          </a:xfrm>
          <a:prstGeom prst="rect">
            <a:avLst/>
          </a:prstGeom>
          <a:noFill/>
        </p:spPr>
        <p:txBody>
          <a:bodyPr wrap="square">
            <a:spAutoFit/>
          </a:bodyPr>
          <a:lstStyle/>
          <a:p>
            <a:pPr algn="l"/>
            <a:r>
              <a:rPr sz="1000" b="0" i="0">
                <a:solidFill>
                  <a:srgbClr val="7E8BA0"/>
                </a:solidFill>
                <a:latin typeface="Inter"/>
              </a:rPr>
              <a:t>S&amp;P 500 · Nasdaq · Dow
Tech · Financials · Energy</a:t>
            </a:r>
          </a:p>
        </p:txBody>
      </p:sp>
      <p:sp>
        <p:nvSpPr>
          <p:cNvPr id="12" name="Rectangle 11"/>
          <p:cNvSpPr/>
          <p:nvPr/>
        </p:nvSpPr>
        <p:spPr>
          <a:xfrm>
            <a:off x="8138160" y="1965960"/>
            <a:ext cx="3566160" cy="13716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2075688"/>
            <a:ext cx="3291840" cy="365760"/>
          </a:xfrm>
          <a:prstGeom prst="rect">
            <a:avLst/>
          </a:prstGeom>
          <a:noFill/>
        </p:spPr>
        <p:txBody>
          <a:bodyPr wrap="square">
            <a:spAutoFit/>
          </a:bodyPr>
          <a:lstStyle/>
          <a:p>
            <a:pPr algn="l"/>
            <a:r>
              <a:rPr sz="1400" b="1" i="0">
                <a:solidFill>
                  <a:srgbClr val="FFFFFF"/>
                </a:solidFill>
                <a:latin typeface="Inter"/>
              </a:rPr>
              <a:t>🇪🇺  Europe</a:t>
            </a:r>
          </a:p>
        </p:txBody>
      </p:sp>
      <p:sp>
        <p:nvSpPr>
          <p:cNvPr id="14" name="TextBox 13"/>
          <p:cNvSpPr txBox="1"/>
          <p:nvPr/>
        </p:nvSpPr>
        <p:spPr>
          <a:xfrm>
            <a:off x="8275320" y="2468880"/>
            <a:ext cx="3291840" cy="777240"/>
          </a:xfrm>
          <a:prstGeom prst="rect">
            <a:avLst/>
          </a:prstGeom>
          <a:noFill/>
        </p:spPr>
        <p:txBody>
          <a:bodyPr wrap="square">
            <a:spAutoFit/>
          </a:bodyPr>
          <a:lstStyle/>
          <a:p>
            <a:pPr algn="l"/>
            <a:r>
              <a:rPr sz="1000" b="0" i="0">
                <a:solidFill>
                  <a:srgbClr val="7E8BA0"/>
                </a:solidFill>
                <a:latin typeface="Inter"/>
              </a:rPr>
              <a:t>DAX · CAC 40 · FTSE 100
Stoxx 600 components</a:t>
            </a:r>
          </a:p>
        </p:txBody>
      </p:sp>
      <p:sp>
        <p:nvSpPr>
          <p:cNvPr id="15" name="Rectangle 14"/>
          <p:cNvSpPr/>
          <p:nvPr/>
        </p:nvSpPr>
        <p:spPr>
          <a:xfrm>
            <a:off x="457200" y="3474720"/>
            <a:ext cx="3566160" cy="13716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584448"/>
            <a:ext cx="3291840" cy="365760"/>
          </a:xfrm>
          <a:prstGeom prst="rect">
            <a:avLst/>
          </a:prstGeom>
          <a:noFill/>
        </p:spPr>
        <p:txBody>
          <a:bodyPr wrap="square">
            <a:spAutoFit/>
          </a:bodyPr>
          <a:lstStyle/>
          <a:p>
            <a:pPr algn="l"/>
            <a:r>
              <a:rPr sz="1400" b="1" i="0">
                <a:solidFill>
                  <a:srgbClr val="FFFFFF"/>
                </a:solidFill>
                <a:latin typeface="Inter"/>
              </a:rPr>
              <a:t>🇨🇳  China</a:t>
            </a:r>
          </a:p>
        </p:txBody>
      </p:sp>
      <p:sp>
        <p:nvSpPr>
          <p:cNvPr id="17" name="TextBox 16"/>
          <p:cNvSpPr txBox="1"/>
          <p:nvPr/>
        </p:nvSpPr>
        <p:spPr>
          <a:xfrm>
            <a:off x="594360" y="3977639"/>
            <a:ext cx="3291840" cy="777240"/>
          </a:xfrm>
          <a:prstGeom prst="rect">
            <a:avLst/>
          </a:prstGeom>
          <a:noFill/>
        </p:spPr>
        <p:txBody>
          <a:bodyPr wrap="square">
            <a:spAutoFit/>
          </a:bodyPr>
          <a:lstStyle/>
          <a:p>
            <a:pPr algn="l"/>
            <a:r>
              <a:rPr sz="1000" b="0" i="0">
                <a:solidFill>
                  <a:srgbClr val="7E8BA0"/>
                </a:solidFill>
                <a:latin typeface="Inter"/>
              </a:rPr>
              <a:t>Shanghai · Shenzhen
Hang Seng · H-Shares</a:t>
            </a:r>
          </a:p>
        </p:txBody>
      </p:sp>
      <p:sp>
        <p:nvSpPr>
          <p:cNvPr id="18" name="Rectangle 17"/>
          <p:cNvSpPr/>
          <p:nvPr/>
        </p:nvSpPr>
        <p:spPr>
          <a:xfrm>
            <a:off x="4297680" y="3474720"/>
            <a:ext cx="3566160" cy="13716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3584448"/>
            <a:ext cx="3291840" cy="365760"/>
          </a:xfrm>
          <a:prstGeom prst="rect">
            <a:avLst/>
          </a:prstGeom>
          <a:noFill/>
        </p:spPr>
        <p:txBody>
          <a:bodyPr wrap="square">
            <a:spAutoFit/>
          </a:bodyPr>
          <a:lstStyle/>
          <a:p>
            <a:pPr algn="l"/>
            <a:r>
              <a:rPr sz="1400" b="1" i="0">
                <a:solidFill>
                  <a:srgbClr val="FFFFFF"/>
                </a:solidFill>
                <a:latin typeface="Inter"/>
              </a:rPr>
              <a:t>🌏  Asia-Pacific</a:t>
            </a:r>
          </a:p>
        </p:txBody>
      </p:sp>
      <p:sp>
        <p:nvSpPr>
          <p:cNvPr id="20" name="TextBox 19"/>
          <p:cNvSpPr txBox="1"/>
          <p:nvPr/>
        </p:nvSpPr>
        <p:spPr>
          <a:xfrm>
            <a:off x="4434840" y="3977639"/>
            <a:ext cx="3291840" cy="777240"/>
          </a:xfrm>
          <a:prstGeom prst="rect">
            <a:avLst/>
          </a:prstGeom>
          <a:noFill/>
        </p:spPr>
        <p:txBody>
          <a:bodyPr wrap="square">
            <a:spAutoFit/>
          </a:bodyPr>
          <a:lstStyle/>
          <a:p>
            <a:pPr algn="l"/>
            <a:r>
              <a:rPr sz="1000" b="0" i="0">
                <a:solidFill>
                  <a:srgbClr val="7E8BA0"/>
                </a:solidFill>
                <a:latin typeface="Inter"/>
              </a:rPr>
              <a:t>Nikkei · ASX 200
Singapore · Korea</a:t>
            </a:r>
          </a:p>
        </p:txBody>
      </p:sp>
      <p:sp>
        <p:nvSpPr>
          <p:cNvPr id="21" name="Rectangle 20"/>
          <p:cNvSpPr/>
          <p:nvPr/>
        </p:nvSpPr>
        <p:spPr>
          <a:xfrm>
            <a:off x="8138160" y="3474720"/>
            <a:ext cx="3566160" cy="13716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20" y="3584448"/>
            <a:ext cx="3291840" cy="365760"/>
          </a:xfrm>
          <a:prstGeom prst="rect">
            <a:avLst/>
          </a:prstGeom>
          <a:noFill/>
        </p:spPr>
        <p:txBody>
          <a:bodyPr wrap="square">
            <a:spAutoFit/>
          </a:bodyPr>
          <a:lstStyle/>
          <a:p>
            <a:pPr algn="l"/>
            <a:r>
              <a:rPr sz="1400" b="1" i="0">
                <a:solidFill>
                  <a:srgbClr val="FFFFFF"/>
                </a:solidFill>
                <a:latin typeface="Inter"/>
              </a:rPr>
              <a:t>🌍  West Asia</a:t>
            </a:r>
          </a:p>
        </p:txBody>
      </p:sp>
      <p:sp>
        <p:nvSpPr>
          <p:cNvPr id="23" name="TextBox 22"/>
          <p:cNvSpPr txBox="1"/>
          <p:nvPr/>
        </p:nvSpPr>
        <p:spPr>
          <a:xfrm>
            <a:off x="8275320" y="3977639"/>
            <a:ext cx="3291840" cy="777240"/>
          </a:xfrm>
          <a:prstGeom prst="rect">
            <a:avLst/>
          </a:prstGeom>
          <a:noFill/>
        </p:spPr>
        <p:txBody>
          <a:bodyPr wrap="square">
            <a:spAutoFit/>
          </a:bodyPr>
          <a:lstStyle/>
          <a:p>
            <a:pPr algn="l"/>
            <a:r>
              <a:rPr sz="1000" b="0" i="0">
                <a:solidFill>
                  <a:srgbClr val="7E8BA0"/>
                </a:solidFill>
                <a:latin typeface="Inter"/>
              </a:rPr>
              <a:t>Saudi Aramco · ADNOC
Qatar · UAE markets</a:t>
            </a:r>
          </a:p>
        </p:txBody>
      </p:sp>
      <p:sp>
        <p:nvSpPr>
          <p:cNvPr id="24" name="Rectangle 23"/>
          <p:cNvSpPr/>
          <p:nvPr/>
        </p:nvSpPr>
        <p:spPr>
          <a:xfrm>
            <a:off x="457200" y="4983479"/>
            <a:ext cx="3566160" cy="13716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093207"/>
            <a:ext cx="3291840" cy="365760"/>
          </a:xfrm>
          <a:prstGeom prst="rect">
            <a:avLst/>
          </a:prstGeom>
          <a:noFill/>
        </p:spPr>
        <p:txBody>
          <a:bodyPr wrap="square">
            <a:spAutoFit/>
          </a:bodyPr>
          <a:lstStyle/>
          <a:p>
            <a:pPr algn="l"/>
            <a:r>
              <a:rPr sz="1400" b="1" i="0">
                <a:solidFill>
                  <a:srgbClr val="FFFFFF"/>
                </a:solidFill>
                <a:latin typeface="Inter"/>
              </a:rPr>
              <a:t>🥇  Commodities</a:t>
            </a:r>
          </a:p>
        </p:txBody>
      </p:sp>
      <p:sp>
        <p:nvSpPr>
          <p:cNvPr id="26" name="TextBox 25"/>
          <p:cNvSpPr txBox="1"/>
          <p:nvPr/>
        </p:nvSpPr>
        <p:spPr>
          <a:xfrm>
            <a:off x="594360" y="5486399"/>
            <a:ext cx="3291840" cy="777240"/>
          </a:xfrm>
          <a:prstGeom prst="rect">
            <a:avLst/>
          </a:prstGeom>
          <a:noFill/>
        </p:spPr>
        <p:txBody>
          <a:bodyPr wrap="square">
            <a:spAutoFit/>
          </a:bodyPr>
          <a:lstStyle/>
          <a:p>
            <a:pPr algn="l"/>
            <a:r>
              <a:rPr sz="1000" b="0" i="0">
                <a:solidFill>
                  <a:srgbClr val="7E8BA0"/>
                </a:solidFill>
                <a:latin typeface="Inter"/>
              </a:rPr>
              <a:t>Gold · Silver · Crude Oil
Natural Gas · Copper</a:t>
            </a:r>
          </a:p>
        </p:txBody>
      </p:sp>
      <p:sp>
        <p:nvSpPr>
          <p:cNvPr id="27" name="Rectangle 26"/>
          <p:cNvSpPr/>
          <p:nvPr/>
        </p:nvSpPr>
        <p:spPr>
          <a:xfrm>
            <a:off x="4297680" y="4983479"/>
            <a:ext cx="3566160" cy="13716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4840" y="5093207"/>
            <a:ext cx="3291840" cy="365760"/>
          </a:xfrm>
          <a:prstGeom prst="rect">
            <a:avLst/>
          </a:prstGeom>
          <a:noFill/>
        </p:spPr>
        <p:txBody>
          <a:bodyPr wrap="square">
            <a:spAutoFit/>
          </a:bodyPr>
          <a:lstStyle/>
          <a:p>
            <a:pPr algn="l"/>
            <a:r>
              <a:rPr sz="1400" b="1" i="0">
                <a:solidFill>
                  <a:srgbClr val="FFFFFF"/>
                </a:solidFill>
                <a:latin typeface="Inter"/>
              </a:rPr>
              <a:t>💱  Forex</a:t>
            </a:r>
          </a:p>
        </p:txBody>
      </p:sp>
      <p:sp>
        <p:nvSpPr>
          <p:cNvPr id="29" name="TextBox 28"/>
          <p:cNvSpPr txBox="1"/>
          <p:nvPr/>
        </p:nvSpPr>
        <p:spPr>
          <a:xfrm>
            <a:off x="4434840" y="5486399"/>
            <a:ext cx="3291840" cy="777240"/>
          </a:xfrm>
          <a:prstGeom prst="rect">
            <a:avLst/>
          </a:prstGeom>
          <a:noFill/>
        </p:spPr>
        <p:txBody>
          <a:bodyPr wrap="square">
            <a:spAutoFit/>
          </a:bodyPr>
          <a:lstStyle/>
          <a:p>
            <a:pPr algn="l"/>
            <a:r>
              <a:rPr sz="1000" b="0" i="0">
                <a:solidFill>
                  <a:srgbClr val="7E8BA0"/>
                </a:solidFill>
                <a:latin typeface="Inter"/>
              </a:rPr>
              <a:t>USD/INR · EUR/USD
GBP/USD · JPY pairs</a:t>
            </a:r>
          </a:p>
        </p:txBody>
      </p:sp>
      <p:sp>
        <p:nvSpPr>
          <p:cNvPr id="30" name="Rectangle 29"/>
          <p:cNvSpPr/>
          <p:nvPr/>
        </p:nvSpPr>
        <p:spPr>
          <a:xfrm>
            <a:off x="8138160" y="4983479"/>
            <a:ext cx="3566160" cy="13716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75320" y="5093207"/>
            <a:ext cx="3291840" cy="365760"/>
          </a:xfrm>
          <a:prstGeom prst="rect">
            <a:avLst/>
          </a:prstGeom>
          <a:noFill/>
        </p:spPr>
        <p:txBody>
          <a:bodyPr wrap="square">
            <a:spAutoFit/>
          </a:bodyPr>
          <a:lstStyle/>
          <a:p>
            <a:pPr algn="l"/>
            <a:r>
              <a:rPr sz="1400" b="1" i="0">
                <a:solidFill>
                  <a:srgbClr val="FFFFFF"/>
                </a:solidFill>
                <a:latin typeface="Inter"/>
              </a:rPr>
              <a:t>📊  Rates &amp; Bonds</a:t>
            </a:r>
          </a:p>
        </p:txBody>
      </p:sp>
      <p:sp>
        <p:nvSpPr>
          <p:cNvPr id="32" name="TextBox 31"/>
          <p:cNvSpPr txBox="1"/>
          <p:nvPr/>
        </p:nvSpPr>
        <p:spPr>
          <a:xfrm>
            <a:off x="8275320" y="5486399"/>
            <a:ext cx="3291840" cy="777240"/>
          </a:xfrm>
          <a:prstGeom prst="rect">
            <a:avLst/>
          </a:prstGeom>
          <a:noFill/>
        </p:spPr>
        <p:txBody>
          <a:bodyPr wrap="square">
            <a:spAutoFit/>
          </a:bodyPr>
          <a:lstStyle/>
          <a:p>
            <a:pPr algn="l"/>
            <a:r>
              <a:rPr sz="1000" b="0" i="0">
                <a:solidFill>
                  <a:srgbClr val="7E8BA0"/>
                </a:solidFill>
                <a:latin typeface="Inter"/>
              </a:rPr>
              <a:t>US 10Y · India 10Y
VIX · Fear &amp; Greed</a:t>
            </a:r>
          </a:p>
        </p:txBody>
      </p:sp>
      <p:sp>
        <p:nvSpPr>
          <p:cNvPr id="33" name="TextBox 32"/>
          <p:cNvSpPr txBox="1"/>
          <p:nvPr/>
        </p:nvSpPr>
        <p:spPr>
          <a:xfrm>
            <a:off x="11430000" y="6492240"/>
            <a:ext cx="640080" cy="274320"/>
          </a:xfrm>
          <a:prstGeom prst="rect">
            <a:avLst/>
          </a:prstGeom>
          <a:noFill/>
        </p:spPr>
        <p:txBody>
          <a:bodyPr wrap="square">
            <a:spAutoFit/>
          </a:bodyPr>
          <a:lstStyle/>
          <a:p>
            <a:pPr algn="r"/>
            <a:r>
              <a:rPr sz="800" b="0" i="0">
                <a:solidFill>
                  <a:srgbClr val="7E8BA0"/>
                </a:solidFill>
                <a:latin typeface="Inter"/>
              </a:rPr>
              <a:t>4 /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2286000" cy="274320"/>
          </a:xfrm>
          <a:prstGeom prst="rect">
            <a:avLst/>
          </a:prstGeom>
          <a:noFill/>
        </p:spPr>
        <p:txBody>
          <a:bodyPr wrap="square">
            <a:spAutoFit/>
          </a:bodyPr>
          <a:lstStyle/>
          <a:p>
            <a:pPr algn="l"/>
            <a:r>
              <a:rPr sz="900" b="1" i="0">
                <a:solidFill>
                  <a:srgbClr val="4FC3F7"/>
                </a:solidFill>
                <a:latin typeface="JetBrains Mono"/>
              </a:rPr>
              <a:t>SIGNAL ENGINE</a:t>
            </a:r>
          </a:p>
        </p:txBody>
      </p:sp>
      <p:sp>
        <p:nvSpPr>
          <p:cNvPr id="4" name="TextBox 3"/>
          <p:cNvSpPr txBox="1"/>
          <p:nvPr/>
        </p:nvSpPr>
        <p:spPr>
          <a:xfrm>
            <a:off x="457200" y="777240"/>
            <a:ext cx="10972800" cy="640080"/>
          </a:xfrm>
          <a:prstGeom prst="rect">
            <a:avLst/>
          </a:prstGeom>
          <a:noFill/>
        </p:spPr>
        <p:txBody>
          <a:bodyPr wrap="square">
            <a:spAutoFit/>
          </a:bodyPr>
          <a:lstStyle/>
          <a:p>
            <a:pPr algn="l"/>
            <a:r>
              <a:rPr sz="3400" b="1" i="0">
                <a:solidFill>
                  <a:srgbClr val="FFFFFF"/>
                </a:solidFill>
                <a:latin typeface="Inter"/>
              </a:rPr>
              <a:t>Not one method. Three — arbitrated.</a:t>
            </a:r>
          </a:p>
        </p:txBody>
      </p:sp>
      <p:sp>
        <p:nvSpPr>
          <p:cNvPr id="5" name="Rectangle 4"/>
          <p:cNvSpPr/>
          <p:nvPr/>
        </p:nvSpPr>
        <p:spPr>
          <a:xfrm>
            <a:off x="457200" y="1600200"/>
            <a:ext cx="11064240"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20240"/>
            <a:ext cx="3474720" cy="27432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057400"/>
            <a:ext cx="1371600" cy="34747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75688"/>
            <a:ext cx="1280160" cy="310896"/>
          </a:xfrm>
          <a:prstGeom prst="rect">
            <a:avLst/>
          </a:prstGeom>
          <a:noFill/>
        </p:spPr>
        <p:txBody>
          <a:bodyPr wrap="square">
            <a:spAutoFit/>
          </a:bodyPr>
          <a:lstStyle/>
          <a:p>
            <a:pPr algn="ctr"/>
            <a:r>
              <a:rPr sz="1000" b="1" i="0">
                <a:solidFill>
                  <a:srgbClr val="FFFFFF"/>
                </a:solidFill>
                <a:latin typeface="Inter"/>
              </a:rPr>
              <a:t>WEINSTEIN</a:t>
            </a:r>
          </a:p>
        </p:txBody>
      </p:sp>
      <p:sp>
        <p:nvSpPr>
          <p:cNvPr id="9" name="TextBox 8"/>
          <p:cNvSpPr txBox="1"/>
          <p:nvPr/>
        </p:nvSpPr>
        <p:spPr>
          <a:xfrm>
            <a:off x="594360" y="2560320"/>
            <a:ext cx="3200400" cy="1920240"/>
          </a:xfrm>
          <a:prstGeom prst="rect">
            <a:avLst/>
          </a:prstGeom>
          <a:noFill/>
        </p:spPr>
        <p:txBody>
          <a:bodyPr wrap="square">
            <a:spAutoFit/>
          </a:bodyPr>
          <a:lstStyle/>
          <a:p>
            <a:pPr algn="l"/>
            <a:r>
              <a:rPr sz="1200" b="0" i="0">
                <a:solidFill>
                  <a:srgbClr val="7E8BA0"/>
                </a:solidFill>
                <a:latin typeface="Inter"/>
              </a:rPr>
              <a:t>Stage 1–4 cycle position.
Long-term trend.
Takes precedence in conflict.</a:t>
            </a:r>
          </a:p>
        </p:txBody>
      </p:sp>
      <p:sp>
        <p:nvSpPr>
          <p:cNvPr id="10" name="Rectangle 9"/>
          <p:cNvSpPr/>
          <p:nvPr/>
        </p:nvSpPr>
        <p:spPr>
          <a:xfrm>
            <a:off x="4206240" y="1920240"/>
            <a:ext cx="3474720" cy="27432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2057400"/>
            <a:ext cx="1371600" cy="347472"/>
          </a:xfrm>
          <a:prstGeom prst="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2075688"/>
            <a:ext cx="1280160" cy="310896"/>
          </a:xfrm>
          <a:prstGeom prst="rect">
            <a:avLst/>
          </a:prstGeom>
          <a:noFill/>
        </p:spPr>
        <p:txBody>
          <a:bodyPr wrap="square">
            <a:spAutoFit/>
          </a:bodyPr>
          <a:lstStyle/>
          <a:p>
            <a:pPr algn="ctr"/>
            <a:r>
              <a:rPr sz="1000" b="1" i="0">
                <a:solidFill>
                  <a:srgbClr val="FFFFFF"/>
                </a:solidFill>
                <a:latin typeface="Inter"/>
              </a:rPr>
              <a:t>ELDER</a:t>
            </a:r>
          </a:p>
        </p:txBody>
      </p:sp>
      <p:sp>
        <p:nvSpPr>
          <p:cNvPr id="13" name="TextBox 12"/>
          <p:cNvSpPr txBox="1"/>
          <p:nvPr/>
        </p:nvSpPr>
        <p:spPr>
          <a:xfrm>
            <a:off x="4343400" y="2560320"/>
            <a:ext cx="3200400" cy="1920240"/>
          </a:xfrm>
          <a:prstGeom prst="rect">
            <a:avLst/>
          </a:prstGeom>
          <a:noFill/>
        </p:spPr>
        <p:txBody>
          <a:bodyPr wrap="square">
            <a:spAutoFit/>
          </a:bodyPr>
          <a:lstStyle/>
          <a:p>
            <a:pPr algn="l"/>
            <a:r>
              <a:rPr sz="1200" b="0" i="0">
                <a:solidFill>
                  <a:srgbClr val="7E8BA0"/>
                </a:solidFill>
                <a:latin typeface="Inter"/>
              </a:rPr>
              <a:t>Triple Screen — weekly trend,
daily momentum,
intraday entry timing.</a:t>
            </a:r>
          </a:p>
        </p:txBody>
      </p:sp>
      <p:sp>
        <p:nvSpPr>
          <p:cNvPr id="14" name="Rectangle 13"/>
          <p:cNvSpPr/>
          <p:nvPr/>
        </p:nvSpPr>
        <p:spPr>
          <a:xfrm>
            <a:off x="7955279" y="1920240"/>
            <a:ext cx="3474720" cy="27432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2440" y="2057400"/>
            <a:ext cx="1371600" cy="347472"/>
          </a:xfrm>
          <a:prstGeom prst="rect">
            <a:avLst/>
          </a:prstGeom>
          <a:solidFill>
            <a:srgbClr val="7E8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2075688"/>
            <a:ext cx="1280160" cy="310896"/>
          </a:xfrm>
          <a:prstGeom prst="rect">
            <a:avLst/>
          </a:prstGeom>
          <a:noFill/>
        </p:spPr>
        <p:txBody>
          <a:bodyPr wrap="square">
            <a:spAutoFit/>
          </a:bodyPr>
          <a:lstStyle/>
          <a:p>
            <a:pPr algn="ctr"/>
            <a:r>
              <a:rPr sz="1000" b="1" i="0">
                <a:solidFill>
                  <a:srgbClr val="FFFFFF"/>
                </a:solidFill>
                <a:latin typeface="Inter"/>
              </a:rPr>
              <a:t>COMPOSITE</a:t>
            </a:r>
          </a:p>
        </p:txBody>
      </p:sp>
      <p:sp>
        <p:nvSpPr>
          <p:cNvPr id="17" name="TextBox 16"/>
          <p:cNvSpPr txBox="1"/>
          <p:nvPr/>
        </p:nvSpPr>
        <p:spPr>
          <a:xfrm>
            <a:off x="8092440" y="2560320"/>
            <a:ext cx="3200400" cy="1920240"/>
          </a:xfrm>
          <a:prstGeom prst="rect">
            <a:avLst/>
          </a:prstGeom>
          <a:noFill/>
        </p:spPr>
        <p:txBody>
          <a:bodyPr wrap="square">
            <a:spAutoFit/>
          </a:bodyPr>
          <a:lstStyle/>
          <a:p>
            <a:pPr algn="l"/>
            <a:r>
              <a:rPr sz="1200" b="0" i="0">
                <a:solidFill>
                  <a:srgbClr val="7E8BA0"/>
                </a:solidFill>
                <a:latin typeface="Inter"/>
              </a:rPr>
              <a:t>RSI · MACD · Volume · ATR
+ 8 more indicators.
Scored 0–100.</a:t>
            </a:r>
          </a:p>
        </p:txBody>
      </p:sp>
      <p:sp>
        <p:nvSpPr>
          <p:cNvPr id="18" name="TextBox 17"/>
          <p:cNvSpPr txBox="1"/>
          <p:nvPr/>
        </p:nvSpPr>
        <p:spPr>
          <a:xfrm>
            <a:off x="5760720" y="4754880"/>
            <a:ext cx="731520" cy="457200"/>
          </a:xfrm>
          <a:prstGeom prst="rect">
            <a:avLst/>
          </a:prstGeom>
          <a:noFill/>
        </p:spPr>
        <p:txBody>
          <a:bodyPr wrap="square">
            <a:spAutoFit/>
          </a:bodyPr>
          <a:lstStyle/>
          <a:p>
            <a:pPr algn="ctr"/>
            <a:r>
              <a:rPr sz="2400" b="0" i="0">
                <a:solidFill>
                  <a:srgbClr val="4FC3F7"/>
                </a:solidFill>
                <a:latin typeface="Inter"/>
              </a:rPr>
              <a:t>↓</a:t>
            </a:r>
          </a:p>
        </p:txBody>
      </p:sp>
      <p:sp>
        <p:nvSpPr>
          <p:cNvPr id="19" name="Rectangle 18"/>
          <p:cNvSpPr/>
          <p:nvPr/>
        </p:nvSpPr>
        <p:spPr>
          <a:xfrm>
            <a:off x="3200400" y="5257800"/>
            <a:ext cx="5760720" cy="1005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0" y="5257800"/>
            <a:ext cx="5760720" cy="1005840"/>
          </a:xfrm>
          <a:prstGeom prst="rect">
            <a:avLst/>
          </a:prstGeom>
          <a:noFill/>
        </p:spPr>
        <p:txBody>
          <a:bodyPr wrap="square">
            <a:spAutoFit/>
          </a:bodyPr>
          <a:lstStyle/>
          <a:p>
            <a:pPr algn="ctr"/>
            <a:r>
              <a:rPr sz="2200" b="1" i="0">
                <a:solidFill>
                  <a:srgbClr val="FFFFFF"/>
                </a:solidFill>
                <a:latin typeface="Inter"/>
              </a:rPr>
              <a:t>▲  UNIFIED VERDICT  →  BUY</a:t>
            </a:r>
          </a:p>
        </p:txBody>
      </p:sp>
      <p:sp>
        <p:nvSpPr>
          <p:cNvPr id="21" name="TextBox 20"/>
          <p:cNvSpPr txBox="1"/>
          <p:nvPr/>
        </p:nvSpPr>
        <p:spPr>
          <a:xfrm>
            <a:off x="457200" y="6400800"/>
            <a:ext cx="11064240" cy="320040"/>
          </a:xfrm>
          <a:prstGeom prst="rect">
            <a:avLst/>
          </a:prstGeom>
          <a:noFill/>
        </p:spPr>
        <p:txBody>
          <a:bodyPr wrap="square">
            <a:spAutoFit/>
          </a:bodyPr>
          <a:lstStyle/>
          <a:p>
            <a:pPr algn="ctr"/>
            <a:r>
              <a:rPr sz="1000" b="0" i="1">
                <a:solidFill>
                  <a:srgbClr val="7E8BA0"/>
                </a:solidFill>
                <a:latin typeface="Inter"/>
              </a:rPr>
              <a:t>Documented override hierarchy: Weinstein &gt; Elder in conflict. Veto disclosed in UI.</a:t>
            </a:r>
          </a:p>
        </p:txBody>
      </p:sp>
      <p:sp>
        <p:nvSpPr>
          <p:cNvPr id="22" name="TextBox 21"/>
          <p:cNvSpPr txBox="1"/>
          <p:nvPr/>
        </p:nvSpPr>
        <p:spPr>
          <a:xfrm>
            <a:off x="11430000" y="6492240"/>
            <a:ext cx="640080" cy="274320"/>
          </a:xfrm>
          <a:prstGeom prst="rect">
            <a:avLst/>
          </a:prstGeom>
          <a:noFill/>
        </p:spPr>
        <p:txBody>
          <a:bodyPr wrap="square">
            <a:spAutoFit/>
          </a:bodyPr>
          <a:lstStyle/>
          <a:p>
            <a:pPr algn="r"/>
            <a:r>
              <a:rPr sz="800" b="0" i="0">
                <a:solidFill>
                  <a:srgbClr val="7E8BA0"/>
                </a:solidFill>
                <a:latin typeface="Inter"/>
              </a:rPr>
              <a:t>5 /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2286000" cy="274320"/>
          </a:xfrm>
          <a:prstGeom prst="rect">
            <a:avLst/>
          </a:prstGeom>
          <a:noFill/>
        </p:spPr>
        <p:txBody>
          <a:bodyPr wrap="square">
            <a:spAutoFit/>
          </a:bodyPr>
          <a:lstStyle/>
          <a:p>
            <a:pPr algn="l"/>
            <a:r>
              <a:rPr sz="900" b="1" i="0">
                <a:solidFill>
                  <a:srgbClr val="4FC3F7"/>
                </a:solidFill>
                <a:latin typeface="JetBrains Mono"/>
              </a:rPr>
              <a:t>COMPETITIVE LANDSCAPE</a:t>
            </a:r>
          </a:p>
        </p:txBody>
      </p:sp>
      <p:sp>
        <p:nvSpPr>
          <p:cNvPr id="4" name="TextBox 3"/>
          <p:cNvSpPr txBox="1"/>
          <p:nvPr/>
        </p:nvSpPr>
        <p:spPr>
          <a:xfrm>
            <a:off x="457200" y="777240"/>
            <a:ext cx="10972800" cy="640080"/>
          </a:xfrm>
          <a:prstGeom prst="rect">
            <a:avLst/>
          </a:prstGeom>
          <a:noFill/>
        </p:spPr>
        <p:txBody>
          <a:bodyPr wrap="square">
            <a:spAutoFit/>
          </a:bodyPr>
          <a:lstStyle/>
          <a:p>
            <a:pPr algn="l"/>
            <a:r>
              <a:rPr sz="3400" b="1" i="0">
                <a:solidFill>
                  <a:srgbClr val="FFFFFF"/>
                </a:solidFill>
                <a:latin typeface="Inter"/>
              </a:rPr>
              <a:t>Free doesn't mean stripped down.</a:t>
            </a:r>
          </a:p>
        </p:txBody>
      </p:sp>
      <p:sp>
        <p:nvSpPr>
          <p:cNvPr id="5" name="Rectangle 4"/>
          <p:cNvSpPr/>
          <p:nvPr/>
        </p:nvSpPr>
        <p:spPr>
          <a:xfrm>
            <a:off x="457200" y="1600200"/>
            <a:ext cx="11064240"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65960"/>
            <a:ext cx="320040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039112"/>
            <a:ext cx="3017520" cy="384048"/>
          </a:xfrm>
          <a:prstGeom prst="rect">
            <a:avLst/>
          </a:prstGeom>
          <a:noFill/>
        </p:spPr>
        <p:txBody>
          <a:bodyPr wrap="square">
            <a:spAutoFit/>
          </a:bodyPr>
          <a:lstStyle/>
          <a:p>
            <a:pPr algn="l"/>
            <a:r>
              <a:rPr sz="1100" b="1" i="0">
                <a:solidFill>
                  <a:srgbClr val="FFFFFF"/>
                </a:solidFill>
                <a:latin typeface="Inter"/>
              </a:rPr>
              <a:t>Feature</a:t>
            </a:r>
          </a:p>
        </p:txBody>
      </p:sp>
      <p:sp>
        <p:nvSpPr>
          <p:cNvPr id="8" name="Rectangle 7"/>
          <p:cNvSpPr/>
          <p:nvPr/>
        </p:nvSpPr>
        <p:spPr>
          <a:xfrm>
            <a:off x="3749039" y="1965960"/>
            <a:ext cx="2011680" cy="475488"/>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79" y="2039112"/>
            <a:ext cx="1828800" cy="384048"/>
          </a:xfrm>
          <a:prstGeom prst="rect">
            <a:avLst/>
          </a:prstGeom>
          <a:noFill/>
        </p:spPr>
        <p:txBody>
          <a:bodyPr wrap="square">
            <a:spAutoFit/>
          </a:bodyPr>
          <a:lstStyle/>
          <a:p>
            <a:pPr algn="ctr"/>
            <a:r>
              <a:rPr sz="1100" b="1" i="0">
                <a:solidFill>
                  <a:srgbClr val="FFFFFF"/>
                </a:solidFill>
                <a:latin typeface="Inter"/>
              </a:rPr>
              <a:t>GSI Dashboard</a:t>
            </a:r>
          </a:p>
        </p:txBody>
      </p:sp>
      <p:sp>
        <p:nvSpPr>
          <p:cNvPr id="10" name="Rectangle 9"/>
          <p:cNvSpPr/>
          <p:nvPr/>
        </p:nvSpPr>
        <p:spPr>
          <a:xfrm>
            <a:off x="5760720" y="1965960"/>
            <a:ext cx="201168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59" y="2039112"/>
            <a:ext cx="1828800" cy="384048"/>
          </a:xfrm>
          <a:prstGeom prst="rect">
            <a:avLst/>
          </a:prstGeom>
          <a:noFill/>
        </p:spPr>
        <p:txBody>
          <a:bodyPr wrap="square">
            <a:spAutoFit/>
          </a:bodyPr>
          <a:lstStyle/>
          <a:p>
            <a:pPr algn="ctr"/>
            <a:r>
              <a:rPr sz="1100" b="1" i="0">
                <a:solidFill>
                  <a:srgbClr val="FFFFFF"/>
                </a:solidFill>
                <a:latin typeface="Inter"/>
              </a:rPr>
              <a:t>TradingView Free</a:t>
            </a:r>
          </a:p>
        </p:txBody>
      </p:sp>
      <p:sp>
        <p:nvSpPr>
          <p:cNvPr id="12" name="Rectangle 11"/>
          <p:cNvSpPr/>
          <p:nvPr/>
        </p:nvSpPr>
        <p:spPr>
          <a:xfrm>
            <a:off x="7772400" y="1965960"/>
            <a:ext cx="201168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039112"/>
            <a:ext cx="1828800" cy="384048"/>
          </a:xfrm>
          <a:prstGeom prst="rect">
            <a:avLst/>
          </a:prstGeom>
          <a:noFill/>
        </p:spPr>
        <p:txBody>
          <a:bodyPr wrap="square">
            <a:spAutoFit/>
          </a:bodyPr>
          <a:lstStyle/>
          <a:p>
            <a:pPr algn="ctr"/>
            <a:r>
              <a:rPr sz="1100" b="1" i="0">
                <a:solidFill>
                  <a:srgbClr val="FFFFFF"/>
                </a:solidFill>
                <a:latin typeface="Inter"/>
              </a:rPr>
              <a:t>Yahoo Finance</a:t>
            </a:r>
          </a:p>
        </p:txBody>
      </p:sp>
      <p:sp>
        <p:nvSpPr>
          <p:cNvPr id="14" name="Rectangle 13"/>
          <p:cNvSpPr/>
          <p:nvPr/>
        </p:nvSpPr>
        <p:spPr>
          <a:xfrm>
            <a:off x="9784080" y="1965960"/>
            <a:ext cx="201168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19" y="2039112"/>
            <a:ext cx="1828800" cy="384048"/>
          </a:xfrm>
          <a:prstGeom prst="rect">
            <a:avLst/>
          </a:prstGeom>
          <a:noFill/>
        </p:spPr>
        <p:txBody>
          <a:bodyPr wrap="square">
            <a:spAutoFit/>
          </a:bodyPr>
          <a:lstStyle/>
          <a:p>
            <a:pPr algn="ctr"/>
            <a:r>
              <a:rPr sz="1100" b="1" i="0">
                <a:solidFill>
                  <a:srgbClr val="FFFFFF"/>
                </a:solidFill>
                <a:latin typeface="Inter"/>
              </a:rPr>
              <a:t>Screener.in</a:t>
            </a:r>
          </a:p>
        </p:txBody>
      </p:sp>
      <p:sp>
        <p:nvSpPr>
          <p:cNvPr id="16" name="Rectangle 15"/>
          <p:cNvSpPr/>
          <p:nvPr/>
        </p:nvSpPr>
        <p:spPr>
          <a:xfrm>
            <a:off x="457200" y="2441448"/>
            <a:ext cx="320040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514600"/>
            <a:ext cx="3017520" cy="384048"/>
          </a:xfrm>
          <a:prstGeom prst="rect">
            <a:avLst/>
          </a:prstGeom>
          <a:noFill/>
        </p:spPr>
        <p:txBody>
          <a:bodyPr wrap="square">
            <a:spAutoFit/>
          </a:bodyPr>
          <a:lstStyle/>
          <a:p>
            <a:pPr algn="l"/>
            <a:r>
              <a:rPr sz="1100" b="0" i="0">
                <a:solidFill>
                  <a:srgbClr val="FFFFFF"/>
                </a:solidFill>
                <a:latin typeface="Inter"/>
              </a:rPr>
              <a:t>Weinstein Stage</a:t>
            </a:r>
          </a:p>
        </p:txBody>
      </p:sp>
      <p:sp>
        <p:nvSpPr>
          <p:cNvPr id="18" name="Rectangle 17"/>
          <p:cNvSpPr/>
          <p:nvPr/>
        </p:nvSpPr>
        <p:spPr>
          <a:xfrm>
            <a:off x="3749039" y="2441448"/>
            <a:ext cx="2011680" cy="475488"/>
          </a:xfrm>
          <a:prstGeom prst="rect">
            <a:avLst/>
          </a:prstGeom>
          <a:solidFill>
            <a:srgbClr val="0D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79" y="2514600"/>
            <a:ext cx="1828800" cy="384048"/>
          </a:xfrm>
          <a:prstGeom prst="rect">
            <a:avLst/>
          </a:prstGeom>
          <a:noFill/>
        </p:spPr>
        <p:txBody>
          <a:bodyPr wrap="square">
            <a:spAutoFit/>
          </a:bodyPr>
          <a:lstStyle/>
          <a:p>
            <a:pPr algn="ctr"/>
            <a:r>
              <a:rPr sz="1100" b="0" i="0">
                <a:solidFill>
                  <a:srgbClr val="66BB6A"/>
                </a:solidFill>
                <a:latin typeface="Inter"/>
              </a:rPr>
              <a:t>✓</a:t>
            </a:r>
          </a:p>
        </p:txBody>
      </p:sp>
      <p:sp>
        <p:nvSpPr>
          <p:cNvPr id="20" name="Rectangle 19"/>
          <p:cNvSpPr/>
          <p:nvPr/>
        </p:nvSpPr>
        <p:spPr>
          <a:xfrm>
            <a:off x="5760720" y="2441448"/>
            <a:ext cx="201168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52159" y="2514600"/>
            <a:ext cx="1828800" cy="384048"/>
          </a:xfrm>
          <a:prstGeom prst="rect">
            <a:avLst/>
          </a:prstGeom>
          <a:noFill/>
        </p:spPr>
        <p:txBody>
          <a:bodyPr wrap="square">
            <a:spAutoFit/>
          </a:bodyPr>
          <a:lstStyle/>
          <a:p>
            <a:pPr algn="ctr"/>
            <a:r>
              <a:rPr sz="1100" b="0" i="0">
                <a:solidFill>
                  <a:srgbClr val="FFFFFF"/>
                </a:solidFill>
                <a:latin typeface="Inter"/>
              </a:rPr>
              <a:t>Pro only</a:t>
            </a:r>
          </a:p>
        </p:txBody>
      </p:sp>
      <p:sp>
        <p:nvSpPr>
          <p:cNvPr id="22" name="Rectangle 21"/>
          <p:cNvSpPr/>
          <p:nvPr/>
        </p:nvSpPr>
        <p:spPr>
          <a:xfrm>
            <a:off x="7772400" y="2441448"/>
            <a:ext cx="201168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0" y="2514600"/>
            <a:ext cx="1828800" cy="384048"/>
          </a:xfrm>
          <a:prstGeom prst="rect">
            <a:avLst/>
          </a:prstGeom>
          <a:noFill/>
        </p:spPr>
        <p:txBody>
          <a:bodyPr wrap="square">
            <a:spAutoFit/>
          </a:bodyPr>
          <a:lstStyle/>
          <a:p>
            <a:pPr algn="ctr"/>
            <a:r>
              <a:rPr sz="1100" b="0" i="0">
                <a:solidFill>
                  <a:srgbClr val="EF5350"/>
                </a:solidFill>
                <a:latin typeface="Inter"/>
              </a:rPr>
              <a:t>✗</a:t>
            </a:r>
          </a:p>
        </p:txBody>
      </p:sp>
      <p:sp>
        <p:nvSpPr>
          <p:cNvPr id="24" name="Rectangle 23"/>
          <p:cNvSpPr/>
          <p:nvPr/>
        </p:nvSpPr>
        <p:spPr>
          <a:xfrm>
            <a:off x="9784080" y="2441448"/>
            <a:ext cx="201168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19" y="2514600"/>
            <a:ext cx="1828800" cy="384048"/>
          </a:xfrm>
          <a:prstGeom prst="rect">
            <a:avLst/>
          </a:prstGeom>
          <a:noFill/>
        </p:spPr>
        <p:txBody>
          <a:bodyPr wrap="square">
            <a:spAutoFit/>
          </a:bodyPr>
          <a:lstStyle/>
          <a:p>
            <a:pPr algn="ctr"/>
            <a:r>
              <a:rPr sz="1100" b="0" i="0">
                <a:solidFill>
                  <a:srgbClr val="EF5350"/>
                </a:solidFill>
                <a:latin typeface="Inter"/>
              </a:rPr>
              <a:t>✗</a:t>
            </a:r>
          </a:p>
        </p:txBody>
      </p:sp>
      <p:sp>
        <p:nvSpPr>
          <p:cNvPr id="26" name="Rectangle 25"/>
          <p:cNvSpPr/>
          <p:nvPr/>
        </p:nvSpPr>
        <p:spPr>
          <a:xfrm>
            <a:off x="457200" y="2916936"/>
            <a:ext cx="320040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2990088"/>
            <a:ext cx="3017520" cy="384048"/>
          </a:xfrm>
          <a:prstGeom prst="rect">
            <a:avLst/>
          </a:prstGeom>
          <a:noFill/>
        </p:spPr>
        <p:txBody>
          <a:bodyPr wrap="square">
            <a:spAutoFit/>
          </a:bodyPr>
          <a:lstStyle/>
          <a:p>
            <a:pPr algn="l"/>
            <a:r>
              <a:rPr sz="1100" b="0" i="0">
                <a:solidFill>
                  <a:srgbClr val="FFFFFF"/>
                </a:solidFill>
                <a:latin typeface="Inter"/>
              </a:rPr>
              <a:t>Elder Triple Screen</a:t>
            </a:r>
          </a:p>
        </p:txBody>
      </p:sp>
      <p:sp>
        <p:nvSpPr>
          <p:cNvPr id="28" name="Rectangle 27"/>
          <p:cNvSpPr/>
          <p:nvPr/>
        </p:nvSpPr>
        <p:spPr>
          <a:xfrm>
            <a:off x="3749039" y="2916936"/>
            <a:ext cx="2011680" cy="475488"/>
          </a:xfrm>
          <a:prstGeom prst="rect">
            <a:avLst/>
          </a:prstGeom>
          <a:solidFill>
            <a:srgbClr val="0D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79" y="2990088"/>
            <a:ext cx="1828800" cy="384048"/>
          </a:xfrm>
          <a:prstGeom prst="rect">
            <a:avLst/>
          </a:prstGeom>
          <a:noFill/>
        </p:spPr>
        <p:txBody>
          <a:bodyPr wrap="square">
            <a:spAutoFit/>
          </a:bodyPr>
          <a:lstStyle/>
          <a:p>
            <a:pPr algn="ctr"/>
            <a:r>
              <a:rPr sz="1100" b="0" i="0">
                <a:solidFill>
                  <a:srgbClr val="66BB6A"/>
                </a:solidFill>
                <a:latin typeface="Inter"/>
              </a:rPr>
              <a:t>✓</a:t>
            </a:r>
          </a:p>
        </p:txBody>
      </p:sp>
      <p:sp>
        <p:nvSpPr>
          <p:cNvPr id="30" name="Rectangle 29"/>
          <p:cNvSpPr/>
          <p:nvPr/>
        </p:nvSpPr>
        <p:spPr>
          <a:xfrm>
            <a:off x="5760720" y="2916936"/>
            <a:ext cx="201168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52159" y="2990088"/>
            <a:ext cx="1828800" cy="384048"/>
          </a:xfrm>
          <a:prstGeom prst="rect">
            <a:avLst/>
          </a:prstGeom>
          <a:noFill/>
        </p:spPr>
        <p:txBody>
          <a:bodyPr wrap="square">
            <a:spAutoFit/>
          </a:bodyPr>
          <a:lstStyle/>
          <a:p>
            <a:pPr algn="ctr"/>
            <a:r>
              <a:rPr sz="1100" b="0" i="0">
                <a:solidFill>
                  <a:srgbClr val="FFFFFF"/>
                </a:solidFill>
                <a:latin typeface="Inter"/>
              </a:rPr>
              <a:t>Pro only</a:t>
            </a:r>
          </a:p>
        </p:txBody>
      </p:sp>
      <p:sp>
        <p:nvSpPr>
          <p:cNvPr id="32" name="Rectangle 31"/>
          <p:cNvSpPr/>
          <p:nvPr/>
        </p:nvSpPr>
        <p:spPr>
          <a:xfrm>
            <a:off x="7772400" y="2916936"/>
            <a:ext cx="201168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0" y="2990088"/>
            <a:ext cx="1828800" cy="384048"/>
          </a:xfrm>
          <a:prstGeom prst="rect">
            <a:avLst/>
          </a:prstGeom>
          <a:noFill/>
        </p:spPr>
        <p:txBody>
          <a:bodyPr wrap="square">
            <a:spAutoFit/>
          </a:bodyPr>
          <a:lstStyle/>
          <a:p>
            <a:pPr algn="ctr"/>
            <a:r>
              <a:rPr sz="1100" b="0" i="0">
                <a:solidFill>
                  <a:srgbClr val="EF5350"/>
                </a:solidFill>
                <a:latin typeface="Inter"/>
              </a:rPr>
              <a:t>✗</a:t>
            </a:r>
          </a:p>
        </p:txBody>
      </p:sp>
      <p:sp>
        <p:nvSpPr>
          <p:cNvPr id="34" name="Rectangle 33"/>
          <p:cNvSpPr/>
          <p:nvPr/>
        </p:nvSpPr>
        <p:spPr>
          <a:xfrm>
            <a:off x="9784080" y="2916936"/>
            <a:ext cx="201168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19" y="2990088"/>
            <a:ext cx="1828800" cy="384048"/>
          </a:xfrm>
          <a:prstGeom prst="rect">
            <a:avLst/>
          </a:prstGeom>
          <a:noFill/>
        </p:spPr>
        <p:txBody>
          <a:bodyPr wrap="square">
            <a:spAutoFit/>
          </a:bodyPr>
          <a:lstStyle/>
          <a:p>
            <a:pPr algn="ctr"/>
            <a:r>
              <a:rPr sz="1100" b="0" i="0">
                <a:solidFill>
                  <a:srgbClr val="EF5350"/>
                </a:solidFill>
                <a:latin typeface="Inter"/>
              </a:rPr>
              <a:t>✗</a:t>
            </a:r>
          </a:p>
        </p:txBody>
      </p:sp>
      <p:sp>
        <p:nvSpPr>
          <p:cNvPr id="36" name="Rectangle 35"/>
          <p:cNvSpPr/>
          <p:nvPr/>
        </p:nvSpPr>
        <p:spPr>
          <a:xfrm>
            <a:off x="457200" y="3392424"/>
            <a:ext cx="320040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3465576"/>
            <a:ext cx="3017520" cy="384048"/>
          </a:xfrm>
          <a:prstGeom prst="rect">
            <a:avLst/>
          </a:prstGeom>
          <a:noFill/>
        </p:spPr>
        <p:txBody>
          <a:bodyPr wrap="square">
            <a:spAutoFit/>
          </a:bodyPr>
          <a:lstStyle/>
          <a:p>
            <a:pPr algn="l"/>
            <a:r>
              <a:rPr sz="1100" b="0" i="0">
                <a:solidFill>
                  <a:srgbClr val="FFFFFF"/>
                </a:solidFill>
                <a:latin typeface="Inter"/>
              </a:rPr>
              <a:t>Unified BUY/WATCH/AVOID</a:t>
            </a:r>
          </a:p>
        </p:txBody>
      </p:sp>
      <p:sp>
        <p:nvSpPr>
          <p:cNvPr id="38" name="Rectangle 37"/>
          <p:cNvSpPr/>
          <p:nvPr/>
        </p:nvSpPr>
        <p:spPr>
          <a:xfrm>
            <a:off x="3749039" y="3392424"/>
            <a:ext cx="2011680" cy="475488"/>
          </a:xfrm>
          <a:prstGeom prst="rect">
            <a:avLst/>
          </a:prstGeom>
          <a:solidFill>
            <a:srgbClr val="0D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40479" y="3465576"/>
            <a:ext cx="1828800" cy="384048"/>
          </a:xfrm>
          <a:prstGeom prst="rect">
            <a:avLst/>
          </a:prstGeom>
          <a:noFill/>
        </p:spPr>
        <p:txBody>
          <a:bodyPr wrap="square">
            <a:spAutoFit/>
          </a:bodyPr>
          <a:lstStyle/>
          <a:p>
            <a:pPr algn="ctr"/>
            <a:r>
              <a:rPr sz="1100" b="0" i="0">
                <a:solidFill>
                  <a:srgbClr val="66BB6A"/>
                </a:solidFill>
                <a:latin typeface="Inter"/>
              </a:rPr>
              <a:t>✓</a:t>
            </a:r>
          </a:p>
        </p:txBody>
      </p:sp>
      <p:sp>
        <p:nvSpPr>
          <p:cNvPr id="40" name="Rectangle 39"/>
          <p:cNvSpPr/>
          <p:nvPr/>
        </p:nvSpPr>
        <p:spPr>
          <a:xfrm>
            <a:off x="5760720" y="3392424"/>
            <a:ext cx="201168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52159" y="3465576"/>
            <a:ext cx="1828800" cy="384048"/>
          </a:xfrm>
          <a:prstGeom prst="rect">
            <a:avLst/>
          </a:prstGeom>
          <a:noFill/>
        </p:spPr>
        <p:txBody>
          <a:bodyPr wrap="square">
            <a:spAutoFit/>
          </a:bodyPr>
          <a:lstStyle/>
          <a:p>
            <a:pPr algn="ctr"/>
            <a:r>
              <a:rPr sz="1100" b="0" i="0">
                <a:solidFill>
                  <a:srgbClr val="EF5350"/>
                </a:solidFill>
                <a:latin typeface="Inter"/>
              </a:rPr>
              <a:t>✗</a:t>
            </a:r>
          </a:p>
        </p:txBody>
      </p:sp>
      <p:sp>
        <p:nvSpPr>
          <p:cNvPr id="42" name="Rectangle 41"/>
          <p:cNvSpPr/>
          <p:nvPr/>
        </p:nvSpPr>
        <p:spPr>
          <a:xfrm>
            <a:off x="7772400" y="3392424"/>
            <a:ext cx="201168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63840" y="3465576"/>
            <a:ext cx="1828800" cy="384048"/>
          </a:xfrm>
          <a:prstGeom prst="rect">
            <a:avLst/>
          </a:prstGeom>
          <a:noFill/>
        </p:spPr>
        <p:txBody>
          <a:bodyPr wrap="square">
            <a:spAutoFit/>
          </a:bodyPr>
          <a:lstStyle/>
          <a:p>
            <a:pPr algn="ctr"/>
            <a:r>
              <a:rPr sz="1100" b="0" i="0">
                <a:solidFill>
                  <a:srgbClr val="EF5350"/>
                </a:solidFill>
                <a:latin typeface="Inter"/>
              </a:rPr>
              <a:t>✗</a:t>
            </a:r>
          </a:p>
        </p:txBody>
      </p:sp>
      <p:sp>
        <p:nvSpPr>
          <p:cNvPr id="44" name="Rectangle 43"/>
          <p:cNvSpPr/>
          <p:nvPr/>
        </p:nvSpPr>
        <p:spPr>
          <a:xfrm>
            <a:off x="9784080" y="3392424"/>
            <a:ext cx="201168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875519" y="3465576"/>
            <a:ext cx="1828800" cy="384048"/>
          </a:xfrm>
          <a:prstGeom prst="rect">
            <a:avLst/>
          </a:prstGeom>
          <a:noFill/>
        </p:spPr>
        <p:txBody>
          <a:bodyPr wrap="square">
            <a:spAutoFit/>
          </a:bodyPr>
          <a:lstStyle/>
          <a:p>
            <a:pPr algn="ctr"/>
            <a:r>
              <a:rPr sz="1100" b="0" i="0">
                <a:solidFill>
                  <a:srgbClr val="EF5350"/>
                </a:solidFill>
                <a:latin typeface="Inter"/>
              </a:rPr>
              <a:t>✗</a:t>
            </a:r>
          </a:p>
        </p:txBody>
      </p:sp>
      <p:sp>
        <p:nvSpPr>
          <p:cNvPr id="46" name="Rectangle 45"/>
          <p:cNvSpPr/>
          <p:nvPr/>
        </p:nvSpPr>
        <p:spPr>
          <a:xfrm>
            <a:off x="457200" y="3867912"/>
            <a:ext cx="320040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3941064"/>
            <a:ext cx="3017520" cy="384048"/>
          </a:xfrm>
          <a:prstGeom prst="rect">
            <a:avLst/>
          </a:prstGeom>
          <a:noFill/>
        </p:spPr>
        <p:txBody>
          <a:bodyPr wrap="square">
            <a:spAutoFit/>
          </a:bodyPr>
          <a:lstStyle/>
          <a:p>
            <a:pPr algn="l"/>
            <a:r>
              <a:rPr sz="1100" b="0" i="0">
                <a:solidFill>
                  <a:srgbClr val="FFFFFF"/>
                </a:solidFill>
                <a:latin typeface="Inter"/>
              </a:rPr>
              <a:t>India markets</a:t>
            </a:r>
          </a:p>
        </p:txBody>
      </p:sp>
      <p:sp>
        <p:nvSpPr>
          <p:cNvPr id="48" name="Rectangle 47"/>
          <p:cNvSpPr/>
          <p:nvPr/>
        </p:nvSpPr>
        <p:spPr>
          <a:xfrm>
            <a:off x="3749039" y="3867912"/>
            <a:ext cx="2011680" cy="475488"/>
          </a:xfrm>
          <a:prstGeom prst="rect">
            <a:avLst/>
          </a:prstGeom>
          <a:solidFill>
            <a:srgbClr val="0D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40479" y="3941064"/>
            <a:ext cx="1828800" cy="384048"/>
          </a:xfrm>
          <a:prstGeom prst="rect">
            <a:avLst/>
          </a:prstGeom>
          <a:noFill/>
        </p:spPr>
        <p:txBody>
          <a:bodyPr wrap="square">
            <a:spAutoFit/>
          </a:bodyPr>
          <a:lstStyle/>
          <a:p>
            <a:pPr algn="ctr"/>
            <a:r>
              <a:rPr sz="1100" b="0" i="0">
                <a:solidFill>
                  <a:srgbClr val="66BB6A"/>
                </a:solidFill>
                <a:latin typeface="Inter"/>
              </a:rPr>
              <a:t>✓</a:t>
            </a:r>
          </a:p>
        </p:txBody>
      </p:sp>
      <p:sp>
        <p:nvSpPr>
          <p:cNvPr id="50" name="Rectangle 49"/>
          <p:cNvSpPr/>
          <p:nvPr/>
        </p:nvSpPr>
        <p:spPr>
          <a:xfrm>
            <a:off x="5760720" y="3867912"/>
            <a:ext cx="201168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852159" y="3941064"/>
            <a:ext cx="1828800" cy="384048"/>
          </a:xfrm>
          <a:prstGeom prst="rect">
            <a:avLst/>
          </a:prstGeom>
          <a:noFill/>
        </p:spPr>
        <p:txBody>
          <a:bodyPr wrap="square">
            <a:spAutoFit/>
          </a:bodyPr>
          <a:lstStyle/>
          <a:p>
            <a:pPr algn="ctr"/>
            <a:r>
              <a:rPr sz="1100" b="0" i="0">
                <a:solidFill>
                  <a:srgbClr val="66BB6A"/>
                </a:solidFill>
                <a:latin typeface="Inter"/>
              </a:rPr>
              <a:t>✓</a:t>
            </a:r>
          </a:p>
        </p:txBody>
      </p:sp>
      <p:sp>
        <p:nvSpPr>
          <p:cNvPr id="52" name="Rectangle 51"/>
          <p:cNvSpPr/>
          <p:nvPr/>
        </p:nvSpPr>
        <p:spPr>
          <a:xfrm>
            <a:off x="7772400" y="3867912"/>
            <a:ext cx="201168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63840" y="3941064"/>
            <a:ext cx="1828800" cy="384048"/>
          </a:xfrm>
          <a:prstGeom prst="rect">
            <a:avLst/>
          </a:prstGeom>
          <a:noFill/>
        </p:spPr>
        <p:txBody>
          <a:bodyPr wrap="square">
            <a:spAutoFit/>
          </a:bodyPr>
          <a:lstStyle/>
          <a:p>
            <a:pPr algn="ctr"/>
            <a:r>
              <a:rPr sz="1100" b="0" i="0">
                <a:solidFill>
                  <a:srgbClr val="FFFFFF"/>
                </a:solidFill>
                <a:latin typeface="Inter"/>
              </a:rPr>
              <a:t>Partial</a:t>
            </a:r>
          </a:p>
        </p:txBody>
      </p:sp>
      <p:sp>
        <p:nvSpPr>
          <p:cNvPr id="54" name="Rectangle 53"/>
          <p:cNvSpPr/>
          <p:nvPr/>
        </p:nvSpPr>
        <p:spPr>
          <a:xfrm>
            <a:off x="9784080" y="3867912"/>
            <a:ext cx="201168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75519" y="3941064"/>
            <a:ext cx="1828800" cy="384048"/>
          </a:xfrm>
          <a:prstGeom prst="rect">
            <a:avLst/>
          </a:prstGeom>
          <a:noFill/>
        </p:spPr>
        <p:txBody>
          <a:bodyPr wrap="square">
            <a:spAutoFit/>
          </a:bodyPr>
          <a:lstStyle/>
          <a:p>
            <a:pPr algn="ctr"/>
            <a:r>
              <a:rPr sz="1100" b="0" i="0">
                <a:solidFill>
                  <a:srgbClr val="66BB6A"/>
                </a:solidFill>
                <a:latin typeface="Inter"/>
              </a:rPr>
              <a:t>✓</a:t>
            </a:r>
          </a:p>
        </p:txBody>
      </p:sp>
      <p:sp>
        <p:nvSpPr>
          <p:cNvPr id="56" name="Rectangle 55"/>
          <p:cNvSpPr/>
          <p:nvPr/>
        </p:nvSpPr>
        <p:spPr>
          <a:xfrm>
            <a:off x="457200" y="4343400"/>
            <a:ext cx="320040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8640" y="4416552"/>
            <a:ext cx="3017520" cy="384048"/>
          </a:xfrm>
          <a:prstGeom prst="rect">
            <a:avLst/>
          </a:prstGeom>
          <a:noFill/>
        </p:spPr>
        <p:txBody>
          <a:bodyPr wrap="square">
            <a:spAutoFit/>
          </a:bodyPr>
          <a:lstStyle/>
          <a:p>
            <a:pPr algn="l"/>
            <a:r>
              <a:rPr sz="1100" b="0" i="0">
                <a:solidFill>
                  <a:srgbClr val="FFFFFF"/>
                </a:solidFill>
                <a:latin typeface="Inter"/>
              </a:rPr>
              <a:t>9 global markets</a:t>
            </a:r>
          </a:p>
        </p:txBody>
      </p:sp>
      <p:sp>
        <p:nvSpPr>
          <p:cNvPr id="58" name="Rectangle 57"/>
          <p:cNvSpPr/>
          <p:nvPr/>
        </p:nvSpPr>
        <p:spPr>
          <a:xfrm>
            <a:off x="3749039" y="4343400"/>
            <a:ext cx="2011680" cy="475488"/>
          </a:xfrm>
          <a:prstGeom prst="rect">
            <a:avLst/>
          </a:prstGeom>
          <a:solidFill>
            <a:srgbClr val="0D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40479" y="4416552"/>
            <a:ext cx="1828800" cy="384048"/>
          </a:xfrm>
          <a:prstGeom prst="rect">
            <a:avLst/>
          </a:prstGeom>
          <a:noFill/>
        </p:spPr>
        <p:txBody>
          <a:bodyPr wrap="square">
            <a:spAutoFit/>
          </a:bodyPr>
          <a:lstStyle/>
          <a:p>
            <a:pPr algn="ctr"/>
            <a:r>
              <a:rPr sz="1100" b="0" i="0">
                <a:solidFill>
                  <a:srgbClr val="66BB6A"/>
                </a:solidFill>
                <a:latin typeface="Inter"/>
              </a:rPr>
              <a:t>✓</a:t>
            </a:r>
          </a:p>
        </p:txBody>
      </p:sp>
      <p:sp>
        <p:nvSpPr>
          <p:cNvPr id="60" name="Rectangle 59"/>
          <p:cNvSpPr/>
          <p:nvPr/>
        </p:nvSpPr>
        <p:spPr>
          <a:xfrm>
            <a:off x="5760720" y="4343400"/>
            <a:ext cx="201168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852159" y="4416552"/>
            <a:ext cx="1828800" cy="384048"/>
          </a:xfrm>
          <a:prstGeom prst="rect">
            <a:avLst/>
          </a:prstGeom>
          <a:noFill/>
        </p:spPr>
        <p:txBody>
          <a:bodyPr wrap="square">
            <a:spAutoFit/>
          </a:bodyPr>
          <a:lstStyle/>
          <a:p>
            <a:pPr algn="ctr"/>
            <a:r>
              <a:rPr sz="1100" b="0" i="0">
                <a:solidFill>
                  <a:srgbClr val="FFFFFF"/>
                </a:solidFill>
                <a:latin typeface="Inter"/>
              </a:rPr>
              <a:t>✓ (limited)</a:t>
            </a:r>
          </a:p>
        </p:txBody>
      </p:sp>
      <p:sp>
        <p:nvSpPr>
          <p:cNvPr id="62" name="Rectangle 61"/>
          <p:cNvSpPr/>
          <p:nvPr/>
        </p:nvSpPr>
        <p:spPr>
          <a:xfrm>
            <a:off x="7772400" y="4343400"/>
            <a:ext cx="201168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863840" y="4416552"/>
            <a:ext cx="1828800" cy="384048"/>
          </a:xfrm>
          <a:prstGeom prst="rect">
            <a:avLst/>
          </a:prstGeom>
          <a:noFill/>
        </p:spPr>
        <p:txBody>
          <a:bodyPr wrap="square">
            <a:spAutoFit/>
          </a:bodyPr>
          <a:lstStyle/>
          <a:p>
            <a:pPr algn="ctr"/>
            <a:r>
              <a:rPr sz="1100" b="0" i="0">
                <a:solidFill>
                  <a:srgbClr val="EF5350"/>
                </a:solidFill>
                <a:latin typeface="Inter"/>
              </a:rPr>
              <a:t>✗</a:t>
            </a:r>
          </a:p>
        </p:txBody>
      </p:sp>
      <p:sp>
        <p:nvSpPr>
          <p:cNvPr id="64" name="Rectangle 63"/>
          <p:cNvSpPr/>
          <p:nvPr/>
        </p:nvSpPr>
        <p:spPr>
          <a:xfrm>
            <a:off x="9784080" y="4343400"/>
            <a:ext cx="201168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875519" y="4416552"/>
            <a:ext cx="1828800" cy="384048"/>
          </a:xfrm>
          <a:prstGeom prst="rect">
            <a:avLst/>
          </a:prstGeom>
          <a:noFill/>
        </p:spPr>
        <p:txBody>
          <a:bodyPr wrap="square">
            <a:spAutoFit/>
          </a:bodyPr>
          <a:lstStyle/>
          <a:p>
            <a:pPr algn="ctr"/>
            <a:r>
              <a:rPr sz="1100" b="0" i="0">
                <a:solidFill>
                  <a:srgbClr val="EF5350"/>
                </a:solidFill>
                <a:latin typeface="Inter"/>
              </a:rPr>
              <a:t>✗</a:t>
            </a:r>
          </a:p>
        </p:txBody>
      </p:sp>
      <p:sp>
        <p:nvSpPr>
          <p:cNvPr id="66" name="Rectangle 65"/>
          <p:cNvSpPr/>
          <p:nvPr/>
        </p:nvSpPr>
        <p:spPr>
          <a:xfrm>
            <a:off x="457200" y="4818888"/>
            <a:ext cx="320040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48640" y="4892040"/>
            <a:ext cx="3017520" cy="384048"/>
          </a:xfrm>
          <a:prstGeom prst="rect">
            <a:avLst/>
          </a:prstGeom>
          <a:noFill/>
        </p:spPr>
        <p:txBody>
          <a:bodyPr wrap="square">
            <a:spAutoFit/>
          </a:bodyPr>
          <a:lstStyle/>
          <a:p>
            <a:pPr algn="l"/>
            <a:r>
              <a:rPr sz="1100" b="0" i="0">
                <a:solidFill>
                  <a:srgbClr val="FFFFFF"/>
                </a:solidFill>
                <a:latin typeface="Inter"/>
              </a:rPr>
              <a:t>Portfolio optimiser</a:t>
            </a:r>
          </a:p>
        </p:txBody>
      </p:sp>
      <p:sp>
        <p:nvSpPr>
          <p:cNvPr id="68" name="Rectangle 67"/>
          <p:cNvSpPr/>
          <p:nvPr/>
        </p:nvSpPr>
        <p:spPr>
          <a:xfrm>
            <a:off x="3749039" y="4818888"/>
            <a:ext cx="2011680" cy="475488"/>
          </a:xfrm>
          <a:prstGeom prst="rect">
            <a:avLst/>
          </a:prstGeom>
          <a:solidFill>
            <a:srgbClr val="0D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840479" y="4892040"/>
            <a:ext cx="1828800" cy="384048"/>
          </a:xfrm>
          <a:prstGeom prst="rect">
            <a:avLst/>
          </a:prstGeom>
          <a:noFill/>
        </p:spPr>
        <p:txBody>
          <a:bodyPr wrap="square">
            <a:spAutoFit/>
          </a:bodyPr>
          <a:lstStyle/>
          <a:p>
            <a:pPr algn="ctr"/>
            <a:r>
              <a:rPr sz="1100" b="0" i="0">
                <a:solidFill>
                  <a:srgbClr val="66BB6A"/>
                </a:solidFill>
                <a:latin typeface="Inter"/>
              </a:rPr>
              <a:t>✓</a:t>
            </a:r>
          </a:p>
        </p:txBody>
      </p:sp>
      <p:sp>
        <p:nvSpPr>
          <p:cNvPr id="70" name="Rectangle 69"/>
          <p:cNvSpPr/>
          <p:nvPr/>
        </p:nvSpPr>
        <p:spPr>
          <a:xfrm>
            <a:off x="5760720" y="4818888"/>
            <a:ext cx="201168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852159" y="4892040"/>
            <a:ext cx="1828800" cy="384048"/>
          </a:xfrm>
          <a:prstGeom prst="rect">
            <a:avLst/>
          </a:prstGeom>
          <a:noFill/>
        </p:spPr>
        <p:txBody>
          <a:bodyPr wrap="square">
            <a:spAutoFit/>
          </a:bodyPr>
          <a:lstStyle/>
          <a:p>
            <a:pPr algn="ctr"/>
            <a:r>
              <a:rPr sz="1100" b="0" i="0">
                <a:solidFill>
                  <a:srgbClr val="FFFFFF"/>
                </a:solidFill>
                <a:latin typeface="Inter"/>
              </a:rPr>
              <a:t>Pro only</a:t>
            </a:r>
          </a:p>
        </p:txBody>
      </p:sp>
      <p:sp>
        <p:nvSpPr>
          <p:cNvPr id="72" name="Rectangle 71"/>
          <p:cNvSpPr/>
          <p:nvPr/>
        </p:nvSpPr>
        <p:spPr>
          <a:xfrm>
            <a:off x="7772400" y="4818888"/>
            <a:ext cx="201168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863840" y="4892040"/>
            <a:ext cx="1828800" cy="384048"/>
          </a:xfrm>
          <a:prstGeom prst="rect">
            <a:avLst/>
          </a:prstGeom>
          <a:noFill/>
        </p:spPr>
        <p:txBody>
          <a:bodyPr wrap="square">
            <a:spAutoFit/>
          </a:bodyPr>
          <a:lstStyle/>
          <a:p>
            <a:pPr algn="ctr"/>
            <a:r>
              <a:rPr sz="1100" b="0" i="0">
                <a:solidFill>
                  <a:srgbClr val="EF5350"/>
                </a:solidFill>
                <a:latin typeface="Inter"/>
              </a:rPr>
              <a:t>✗</a:t>
            </a:r>
          </a:p>
        </p:txBody>
      </p:sp>
      <p:sp>
        <p:nvSpPr>
          <p:cNvPr id="74" name="Rectangle 73"/>
          <p:cNvSpPr/>
          <p:nvPr/>
        </p:nvSpPr>
        <p:spPr>
          <a:xfrm>
            <a:off x="9784080" y="4818888"/>
            <a:ext cx="201168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875519" y="4892040"/>
            <a:ext cx="1828800" cy="384048"/>
          </a:xfrm>
          <a:prstGeom prst="rect">
            <a:avLst/>
          </a:prstGeom>
          <a:noFill/>
        </p:spPr>
        <p:txBody>
          <a:bodyPr wrap="square">
            <a:spAutoFit/>
          </a:bodyPr>
          <a:lstStyle/>
          <a:p>
            <a:pPr algn="ctr"/>
            <a:r>
              <a:rPr sz="1100" b="0" i="0">
                <a:solidFill>
                  <a:srgbClr val="EF5350"/>
                </a:solidFill>
                <a:latin typeface="Inter"/>
              </a:rPr>
              <a:t>✗</a:t>
            </a:r>
          </a:p>
        </p:txBody>
      </p:sp>
      <p:sp>
        <p:nvSpPr>
          <p:cNvPr id="76" name="Rectangle 75"/>
          <p:cNvSpPr/>
          <p:nvPr/>
        </p:nvSpPr>
        <p:spPr>
          <a:xfrm>
            <a:off x="457200" y="5294376"/>
            <a:ext cx="320040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48640" y="5367528"/>
            <a:ext cx="3017520" cy="384048"/>
          </a:xfrm>
          <a:prstGeom prst="rect">
            <a:avLst/>
          </a:prstGeom>
          <a:noFill/>
        </p:spPr>
        <p:txBody>
          <a:bodyPr wrap="square">
            <a:spAutoFit/>
          </a:bodyPr>
          <a:lstStyle/>
          <a:p>
            <a:pPr algn="l"/>
            <a:r>
              <a:rPr sz="1100" b="0" i="0">
                <a:solidFill>
                  <a:srgbClr val="FFFFFF"/>
                </a:solidFill>
                <a:latin typeface="Inter"/>
              </a:rPr>
              <a:t>No login required</a:t>
            </a:r>
          </a:p>
        </p:txBody>
      </p:sp>
      <p:sp>
        <p:nvSpPr>
          <p:cNvPr id="78" name="Rectangle 77"/>
          <p:cNvSpPr/>
          <p:nvPr/>
        </p:nvSpPr>
        <p:spPr>
          <a:xfrm>
            <a:off x="3749039" y="5294376"/>
            <a:ext cx="2011680" cy="475488"/>
          </a:xfrm>
          <a:prstGeom prst="rect">
            <a:avLst/>
          </a:prstGeom>
          <a:solidFill>
            <a:srgbClr val="0D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840479" y="5367528"/>
            <a:ext cx="1828800" cy="384048"/>
          </a:xfrm>
          <a:prstGeom prst="rect">
            <a:avLst/>
          </a:prstGeom>
          <a:noFill/>
        </p:spPr>
        <p:txBody>
          <a:bodyPr wrap="square">
            <a:spAutoFit/>
          </a:bodyPr>
          <a:lstStyle/>
          <a:p>
            <a:pPr algn="ctr"/>
            <a:r>
              <a:rPr sz="1100" b="0" i="0">
                <a:solidFill>
                  <a:srgbClr val="66BB6A"/>
                </a:solidFill>
                <a:latin typeface="Inter"/>
              </a:rPr>
              <a:t>✓</a:t>
            </a:r>
          </a:p>
        </p:txBody>
      </p:sp>
      <p:sp>
        <p:nvSpPr>
          <p:cNvPr id="80" name="Rectangle 79"/>
          <p:cNvSpPr/>
          <p:nvPr/>
        </p:nvSpPr>
        <p:spPr>
          <a:xfrm>
            <a:off x="5760720" y="5294376"/>
            <a:ext cx="201168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852159" y="5367528"/>
            <a:ext cx="1828800" cy="384048"/>
          </a:xfrm>
          <a:prstGeom prst="rect">
            <a:avLst/>
          </a:prstGeom>
          <a:noFill/>
        </p:spPr>
        <p:txBody>
          <a:bodyPr wrap="square">
            <a:spAutoFit/>
          </a:bodyPr>
          <a:lstStyle/>
          <a:p>
            <a:pPr algn="ctr"/>
            <a:r>
              <a:rPr sz="1100" b="0" i="0">
                <a:solidFill>
                  <a:srgbClr val="66BB6A"/>
                </a:solidFill>
                <a:latin typeface="Inter"/>
              </a:rPr>
              <a:t>✓</a:t>
            </a:r>
          </a:p>
        </p:txBody>
      </p:sp>
      <p:sp>
        <p:nvSpPr>
          <p:cNvPr id="82" name="Rectangle 81"/>
          <p:cNvSpPr/>
          <p:nvPr/>
        </p:nvSpPr>
        <p:spPr>
          <a:xfrm>
            <a:off x="7772400" y="5294376"/>
            <a:ext cx="201168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863840" y="5367528"/>
            <a:ext cx="1828800" cy="384048"/>
          </a:xfrm>
          <a:prstGeom prst="rect">
            <a:avLst/>
          </a:prstGeom>
          <a:noFill/>
        </p:spPr>
        <p:txBody>
          <a:bodyPr wrap="square">
            <a:spAutoFit/>
          </a:bodyPr>
          <a:lstStyle/>
          <a:p>
            <a:pPr algn="ctr"/>
            <a:r>
              <a:rPr sz="1100" b="0" i="0">
                <a:solidFill>
                  <a:srgbClr val="66BB6A"/>
                </a:solidFill>
                <a:latin typeface="Inter"/>
              </a:rPr>
              <a:t>✓</a:t>
            </a:r>
          </a:p>
        </p:txBody>
      </p:sp>
      <p:sp>
        <p:nvSpPr>
          <p:cNvPr id="84" name="Rectangle 83"/>
          <p:cNvSpPr/>
          <p:nvPr/>
        </p:nvSpPr>
        <p:spPr>
          <a:xfrm>
            <a:off x="9784080" y="5294376"/>
            <a:ext cx="2011680" cy="475488"/>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875519" y="5367528"/>
            <a:ext cx="1828800" cy="384048"/>
          </a:xfrm>
          <a:prstGeom prst="rect">
            <a:avLst/>
          </a:prstGeom>
          <a:noFill/>
        </p:spPr>
        <p:txBody>
          <a:bodyPr wrap="square">
            <a:spAutoFit/>
          </a:bodyPr>
          <a:lstStyle/>
          <a:p>
            <a:pPr algn="ctr"/>
            <a:r>
              <a:rPr sz="1100" b="0" i="0">
                <a:solidFill>
                  <a:srgbClr val="66BB6A"/>
                </a:solidFill>
                <a:latin typeface="Inter"/>
              </a:rPr>
              <a:t>✓</a:t>
            </a:r>
          </a:p>
        </p:txBody>
      </p:sp>
      <p:sp>
        <p:nvSpPr>
          <p:cNvPr id="86" name="Rectangle 85"/>
          <p:cNvSpPr/>
          <p:nvPr/>
        </p:nvSpPr>
        <p:spPr>
          <a:xfrm>
            <a:off x="457200" y="5769864"/>
            <a:ext cx="320040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48640" y="5843016"/>
            <a:ext cx="3017520" cy="384048"/>
          </a:xfrm>
          <a:prstGeom prst="rect">
            <a:avLst/>
          </a:prstGeom>
          <a:noFill/>
        </p:spPr>
        <p:txBody>
          <a:bodyPr wrap="square">
            <a:spAutoFit/>
          </a:bodyPr>
          <a:lstStyle/>
          <a:p>
            <a:pPr algn="l"/>
            <a:r>
              <a:rPr sz="1100" b="0" i="0">
                <a:solidFill>
                  <a:srgbClr val="FFFFFF"/>
                </a:solidFill>
                <a:latin typeface="Inter"/>
              </a:rPr>
              <a:t>Cost</a:t>
            </a:r>
          </a:p>
        </p:txBody>
      </p:sp>
      <p:sp>
        <p:nvSpPr>
          <p:cNvPr id="88" name="Rectangle 87"/>
          <p:cNvSpPr/>
          <p:nvPr/>
        </p:nvSpPr>
        <p:spPr>
          <a:xfrm>
            <a:off x="3749039" y="5769864"/>
            <a:ext cx="2011680" cy="475488"/>
          </a:xfrm>
          <a:prstGeom prst="rect">
            <a:avLst/>
          </a:prstGeom>
          <a:solidFill>
            <a:srgbClr val="0D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840479" y="5843016"/>
            <a:ext cx="1828800" cy="384048"/>
          </a:xfrm>
          <a:prstGeom prst="rect">
            <a:avLst/>
          </a:prstGeom>
          <a:noFill/>
        </p:spPr>
        <p:txBody>
          <a:bodyPr wrap="square">
            <a:spAutoFit/>
          </a:bodyPr>
          <a:lstStyle/>
          <a:p>
            <a:pPr algn="ctr"/>
            <a:r>
              <a:rPr sz="1100" b="0" i="0">
                <a:solidFill>
                  <a:srgbClr val="66BB6A"/>
                </a:solidFill>
                <a:latin typeface="Inter"/>
              </a:rPr>
              <a:t>Free</a:t>
            </a:r>
          </a:p>
        </p:txBody>
      </p:sp>
      <p:sp>
        <p:nvSpPr>
          <p:cNvPr id="90" name="Rectangle 89"/>
          <p:cNvSpPr/>
          <p:nvPr/>
        </p:nvSpPr>
        <p:spPr>
          <a:xfrm>
            <a:off x="5760720" y="5769864"/>
            <a:ext cx="201168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852159" y="5843016"/>
            <a:ext cx="1828800" cy="384048"/>
          </a:xfrm>
          <a:prstGeom prst="rect">
            <a:avLst/>
          </a:prstGeom>
          <a:noFill/>
        </p:spPr>
        <p:txBody>
          <a:bodyPr wrap="square">
            <a:spAutoFit/>
          </a:bodyPr>
          <a:lstStyle/>
          <a:p>
            <a:pPr algn="ctr"/>
            <a:r>
              <a:rPr sz="1100" b="0" i="0">
                <a:solidFill>
                  <a:srgbClr val="FFFFFF"/>
                </a:solidFill>
                <a:latin typeface="Inter"/>
              </a:rPr>
              <a:t>₹0–1,200/mo</a:t>
            </a:r>
          </a:p>
        </p:txBody>
      </p:sp>
      <p:sp>
        <p:nvSpPr>
          <p:cNvPr id="92" name="Rectangle 91"/>
          <p:cNvSpPr/>
          <p:nvPr/>
        </p:nvSpPr>
        <p:spPr>
          <a:xfrm>
            <a:off x="7772400" y="5769864"/>
            <a:ext cx="201168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863840" y="5843016"/>
            <a:ext cx="1828800" cy="384048"/>
          </a:xfrm>
          <a:prstGeom prst="rect">
            <a:avLst/>
          </a:prstGeom>
          <a:noFill/>
        </p:spPr>
        <p:txBody>
          <a:bodyPr wrap="square">
            <a:spAutoFit/>
          </a:bodyPr>
          <a:lstStyle/>
          <a:p>
            <a:pPr algn="ctr"/>
            <a:r>
              <a:rPr sz="1100" b="0" i="0">
                <a:solidFill>
                  <a:srgbClr val="66BB6A"/>
                </a:solidFill>
                <a:latin typeface="Inter"/>
              </a:rPr>
              <a:t>Free</a:t>
            </a:r>
          </a:p>
        </p:txBody>
      </p:sp>
      <p:sp>
        <p:nvSpPr>
          <p:cNvPr id="94" name="Rectangle 93"/>
          <p:cNvSpPr/>
          <p:nvPr/>
        </p:nvSpPr>
        <p:spPr>
          <a:xfrm>
            <a:off x="9784080" y="5769864"/>
            <a:ext cx="2011680" cy="47548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875519" y="5843016"/>
            <a:ext cx="1828800" cy="384048"/>
          </a:xfrm>
          <a:prstGeom prst="rect">
            <a:avLst/>
          </a:prstGeom>
          <a:noFill/>
        </p:spPr>
        <p:txBody>
          <a:bodyPr wrap="square">
            <a:spAutoFit/>
          </a:bodyPr>
          <a:lstStyle/>
          <a:p>
            <a:pPr algn="ctr"/>
            <a:r>
              <a:rPr sz="1100" b="0" i="0">
                <a:solidFill>
                  <a:srgbClr val="66BB6A"/>
                </a:solidFill>
                <a:latin typeface="Inter"/>
              </a:rPr>
              <a:t>Free</a:t>
            </a:r>
          </a:p>
        </p:txBody>
      </p:sp>
      <p:sp>
        <p:nvSpPr>
          <p:cNvPr id="96" name="TextBox 95"/>
          <p:cNvSpPr txBox="1"/>
          <p:nvPr/>
        </p:nvSpPr>
        <p:spPr>
          <a:xfrm>
            <a:off x="11430000" y="6492240"/>
            <a:ext cx="640080" cy="274320"/>
          </a:xfrm>
          <a:prstGeom prst="rect">
            <a:avLst/>
          </a:prstGeom>
          <a:noFill/>
        </p:spPr>
        <p:txBody>
          <a:bodyPr wrap="square">
            <a:spAutoFit/>
          </a:bodyPr>
          <a:lstStyle/>
          <a:p>
            <a:pPr algn="r"/>
            <a:r>
              <a:rPr sz="800" b="0" i="0">
                <a:solidFill>
                  <a:srgbClr val="7E8BA0"/>
                </a:solidFill>
                <a:latin typeface="Inter"/>
              </a:rPr>
              <a:t>6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2286000" cy="274320"/>
          </a:xfrm>
          <a:prstGeom prst="rect">
            <a:avLst/>
          </a:prstGeom>
          <a:noFill/>
        </p:spPr>
        <p:txBody>
          <a:bodyPr wrap="square">
            <a:spAutoFit/>
          </a:bodyPr>
          <a:lstStyle/>
          <a:p>
            <a:pPr algn="l"/>
            <a:r>
              <a:rPr sz="900" b="1" i="0">
                <a:solidFill>
                  <a:srgbClr val="4FC3F7"/>
                </a:solidFill>
                <a:latin typeface="JetBrains Mono"/>
              </a:rPr>
              <a:t>WHO IT'S FOR</a:t>
            </a:r>
          </a:p>
        </p:txBody>
      </p:sp>
      <p:sp>
        <p:nvSpPr>
          <p:cNvPr id="4" name="TextBox 3"/>
          <p:cNvSpPr txBox="1"/>
          <p:nvPr/>
        </p:nvSpPr>
        <p:spPr>
          <a:xfrm>
            <a:off x="457200" y="777240"/>
            <a:ext cx="10972800" cy="640080"/>
          </a:xfrm>
          <a:prstGeom prst="rect">
            <a:avLst/>
          </a:prstGeom>
          <a:noFill/>
        </p:spPr>
        <p:txBody>
          <a:bodyPr wrap="square">
            <a:spAutoFit/>
          </a:bodyPr>
          <a:lstStyle/>
          <a:p>
            <a:pPr algn="l"/>
            <a:r>
              <a:rPr sz="3400" b="1" i="0">
                <a:solidFill>
                  <a:srgbClr val="FFFFFF"/>
                </a:solidFill>
                <a:latin typeface="Inter"/>
              </a:rPr>
              <a:t>Three users. One tool.</a:t>
            </a:r>
          </a:p>
        </p:txBody>
      </p:sp>
      <p:sp>
        <p:nvSpPr>
          <p:cNvPr id="5" name="Rectangle 4"/>
          <p:cNvSpPr/>
          <p:nvPr/>
        </p:nvSpPr>
        <p:spPr>
          <a:xfrm>
            <a:off x="457200" y="1600200"/>
            <a:ext cx="11064240" cy="27432"/>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20240"/>
            <a:ext cx="3566160" cy="43891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57400"/>
            <a:ext cx="3200400" cy="457200"/>
          </a:xfrm>
          <a:prstGeom prst="rect">
            <a:avLst/>
          </a:prstGeom>
          <a:noFill/>
        </p:spPr>
        <p:txBody>
          <a:bodyPr wrap="square">
            <a:spAutoFit/>
          </a:bodyPr>
          <a:lstStyle/>
          <a:p>
            <a:pPr algn="l"/>
            <a:r>
              <a:rPr sz="1800" b="1" i="0">
                <a:solidFill>
                  <a:srgbClr val="4FC3F7"/>
                </a:solidFill>
                <a:latin typeface="Inter"/>
              </a:rPr>
              <a:t>Ritu</a:t>
            </a:r>
          </a:p>
        </p:txBody>
      </p:sp>
      <p:sp>
        <p:nvSpPr>
          <p:cNvPr id="8" name="TextBox 7"/>
          <p:cNvSpPr txBox="1"/>
          <p:nvPr/>
        </p:nvSpPr>
        <p:spPr>
          <a:xfrm>
            <a:off x="640080" y="2514600"/>
            <a:ext cx="3200400" cy="320040"/>
          </a:xfrm>
          <a:prstGeom prst="rect">
            <a:avLst/>
          </a:prstGeom>
          <a:noFill/>
        </p:spPr>
        <p:txBody>
          <a:bodyPr wrap="square">
            <a:spAutoFit/>
          </a:bodyPr>
          <a:lstStyle/>
          <a:p>
            <a:pPr algn="l"/>
            <a:r>
              <a:rPr sz="1100" b="1" i="0">
                <a:solidFill>
                  <a:srgbClr val="FFFFFF"/>
                </a:solidFill>
                <a:latin typeface="Inter"/>
              </a:rPr>
              <a:t>Indian Retail Investor</a:t>
            </a:r>
          </a:p>
        </p:txBody>
      </p:sp>
      <p:sp>
        <p:nvSpPr>
          <p:cNvPr id="9" name="TextBox 8"/>
          <p:cNvSpPr txBox="1"/>
          <p:nvPr/>
        </p:nvSpPr>
        <p:spPr>
          <a:xfrm>
            <a:off x="640080" y="2834640"/>
            <a:ext cx="3200400" cy="274320"/>
          </a:xfrm>
          <a:prstGeom prst="rect">
            <a:avLst/>
          </a:prstGeom>
          <a:noFill/>
        </p:spPr>
        <p:txBody>
          <a:bodyPr wrap="square">
            <a:spAutoFit/>
          </a:bodyPr>
          <a:lstStyle/>
          <a:p>
            <a:pPr algn="l"/>
            <a:r>
              <a:rPr sz="1000" b="0" i="0">
                <a:solidFill>
                  <a:srgbClr val="7E8BA0"/>
                </a:solidFill>
                <a:latin typeface="Inter"/>
              </a:rPr>
              <a:t>Mumbai · Zerodha</a:t>
            </a:r>
          </a:p>
        </p:txBody>
      </p:sp>
      <p:sp>
        <p:nvSpPr>
          <p:cNvPr id="10" name="Rectangle 9"/>
          <p:cNvSpPr/>
          <p:nvPr/>
        </p:nvSpPr>
        <p:spPr>
          <a:xfrm>
            <a:off x="640080" y="3200400"/>
            <a:ext cx="3200400" cy="9144"/>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246120"/>
            <a:ext cx="3200400" cy="914400"/>
          </a:xfrm>
          <a:prstGeom prst="rect">
            <a:avLst/>
          </a:prstGeom>
          <a:noFill/>
        </p:spPr>
        <p:txBody>
          <a:bodyPr wrap="square">
            <a:spAutoFit/>
          </a:bodyPr>
          <a:lstStyle/>
          <a:p>
            <a:pPr algn="l"/>
            <a:r>
              <a:rPr sz="1100" b="0" i="0">
                <a:solidFill>
                  <a:srgbClr val="7E8BA0"/>
                </a:solidFill>
                <a:latin typeface="Inter"/>
              </a:rPr>
              <a:t>NSE/BSE technical signals without paying ₹1,200/month for TradingView Pro.</a:t>
            </a:r>
          </a:p>
        </p:txBody>
      </p:sp>
      <p:sp>
        <p:nvSpPr>
          <p:cNvPr id="12" name="Rectangle 11"/>
          <p:cNvSpPr/>
          <p:nvPr/>
        </p:nvSpPr>
        <p:spPr>
          <a:xfrm>
            <a:off x="640080" y="4251960"/>
            <a:ext cx="3200400" cy="173736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343400"/>
            <a:ext cx="3017520" cy="1554480"/>
          </a:xfrm>
          <a:prstGeom prst="rect">
            <a:avLst/>
          </a:prstGeom>
          <a:noFill/>
        </p:spPr>
        <p:txBody>
          <a:bodyPr wrap="square">
            <a:spAutoFit/>
          </a:bodyPr>
          <a:lstStyle/>
          <a:p>
            <a:pPr algn="l"/>
            <a:r>
              <a:rPr sz="1100" b="0" i="1">
                <a:solidFill>
                  <a:srgbClr val="FFFFFF"/>
                </a:solidFill>
                <a:latin typeface="Inter"/>
              </a:rPr>
              <a:t>"I can see the Weinstein stage for my
watchlist in one view."</a:t>
            </a:r>
          </a:p>
        </p:txBody>
      </p:sp>
      <p:sp>
        <p:nvSpPr>
          <p:cNvPr id="14" name="Rectangle 13"/>
          <p:cNvSpPr/>
          <p:nvPr/>
        </p:nvSpPr>
        <p:spPr>
          <a:xfrm>
            <a:off x="4297680" y="1920240"/>
            <a:ext cx="3566160" cy="43891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057400"/>
            <a:ext cx="3200400" cy="457200"/>
          </a:xfrm>
          <a:prstGeom prst="rect">
            <a:avLst/>
          </a:prstGeom>
          <a:noFill/>
        </p:spPr>
        <p:txBody>
          <a:bodyPr wrap="square">
            <a:spAutoFit/>
          </a:bodyPr>
          <a:lstStyle/>
          <a:p>
            <a:pPr algn="l"/>
            <a:r>
              <a:rPr sz="1800" b="1" i="0">
                <a:solidFill>
                  <a:srgbClr val="4FC3F7"/>
                </a:solidFill>
                <a:latin typeface="Inter"/>
              </a:rPr>
              <a:t>Alex</a:t>
            </a:r>
          </a:p>
        </p:txBody>
      </p:sp>
      <p:sp>
        <p:nvSpPr>
          <p:cNvPr id="16" name="TextBox 15"/>
          <p:cNvSpPr txBox="1"/>
          <p:nvPr/>
        </p:nvSpPr>
        <p:spPr>
          <a:xfrm>
            <a:off x="4480560" y="2514600"/>
            <a:ext cx="3200400" cy="320040"/>
          </a:xfrm>
          <a:prstGeom prst="rect">
            <a:avLst/>
          </a:prstGeom>
          <a:noFill/>
        </p:spPr>
        <p:txBody>
          <a:bodyPr wrap="square">
            <a:spAutoFit/>
          </a:bodyPr>
          <a:lstStyle/>
          <a:p>
            <a:pPr algn="l"/>
            <a:r>
              <a:rPr sz="1100" b="1" i="0">
                <a:solidFill>
                  <a:srgbClr val="FFFFFF"/>
                </a:solidFill>
                <a:latin typeface="Inter"/>
              </a:rPr>
              <a:t>US Retail Trader</a:t>
            </a:r>
          </a:p>
        </p:txBody>
      </p:sp>
      <p:sp>
        <p:nvSpPr>
          <p:cNvPr id="17" name="TextBox 16"/>
          <p:cNvSpPr txBox="1"/>
          <p:nvPr/>
        </p:nvSpPr>
        <p:spPr>
          <a:xfrm>
            <a:off x="4480560" y="2834640"/>
            <a:ext cx="3200400" cy="274320"/>
          </a:xfrm>
          <a:prstGeom prst="rect">
            <a:avLst/>
          </a:prstGeom>
          <a:noFill/>
        </p:spPr>
        <p:txBody>
          <a:bodyPr wrap="square">
            <a:spAutoFit/>
          </a:bodyPr>
          <a:lstStyle/>
          <a:p>
            <a:pPr algn="l"/>
            <a:r>
              <a:rPr sz="1000" b="0" i="0">
                <a:solidFill>
                  <a:srgbClr val="7E8BA0"/>
                </a:solidFill>
                <a:latin typeface="Inter"/>
              </a:rPr>
              <a:t>Austin, TX · Robinhood</a:t>
            </a:r>
          </a:p>
        </p:txBody>
      </p:sp>
      <p:sp>
        <p:nvSpPr>
          <p:cNvPr id="18" name="Rectangle 17"/>
          <p:cNvSpPr/>
          <p:nvPr/>
        </p:nvSpPr>
        <p:spPr>
          <a:xfrm>
            <a:off x="4480560" y="3200400"/>
            <a:ext cx="3200400" cy="9144"/>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3246120"/>
            <a:ext cx="3200400" cy="914400"/>
          </a:xfrm>
          <a:prstGeom prst="rect">
            <a:avLst/>
          </a:prstGeom>
          <a:noFill/>
        </p:spPr>
        <p:txBody>
          <a:bodyPr wrap="square">
            <a:spAutoFit/>
          </a:bodyPr>
          <a:lstStyle/>
          <a:p>
            <a:pPr algn="l"/>
            <a:r>
              <a:rPr sz="1100" b="0" i="0">
                <a:solidFill>
                  <a:srgbClr val="7E8BA0"/>
                </a:solidFill>
                <a:latin typeface="Inter"/>
              </a:rPr>
              <a:t>Multi-market breadth — what's moving globally before the US market opens.</a:t>
            </a:r>
          </a:p>
        </p:txBody>
      </p:sp>
      <p:sp>
        <p:nvSpPr>
          <p:cNvPr id="20" name="Rectangle 19"/>
          <p:cNvSpPr/>
          <p:nvPr/>
        </p:nvSpPr>
        <p:spPr>
          <a:xfrm>
            <a:off x="4480560" y="4251960"/>
            <a:ext cx="3200400" cy="173736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4343400"/>
            <a:ext cx="3017520" cy="1554480"/>
          </a:xfrm>
          <a:prstGeom prst="rect">
            <a:avLst/>
          </a:prstGeom>
          <a:noFill/>
        </p:spPr>
        <p:txBody>
          <a:bodyPr wrap="square">
            <a:spAutoFit/>
          </a:bodyPr>
          <a:lstStyle/>
          <a:p>
            <a:pPr algn="l"/>
            <a:r>
              <a:rPr sz="1100" b="0" i="1">
                <a:solidFill>
                  <a:srgbClr val="FFFFFF"/>
                </a:solidFill>
                <a:latin typeface="Inter"/>
              </a:rPr>
              <a:t>"I can see India/China/Europe signals
before US open — no other free tool does this."</a:t>
            </a:r>
          </a:p>
        </p:txBody>
      </p:sp>
      <p:sp>
        <p:nvSpPr>
          <p:cNvPr id="22" name="Rectangle 21"/>
          <p:cNvSpPr/>
          <p:nvPr/>
        </p:nvSpPr>
        <p:spPr>
          <a:xfrm>
            <a:off x="8138160" y="1920240"/>
            <a:ext cx="3566160" cy="43891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2057400"/>
            <a:ext cx="3200400" cy="457200"/>
          </a:xfrm>
          <a:prstGeom prst="rect">
            <a:avLst/>
          </a:prstGeom>
          <a:noFill/>
        </p:spPr>
        <p:txBody>
          <a:bodyPr wrap="square">
            <a:spAutoFit/>
          </a:bodyPr>
          <a:lstStyle/>
          <a:p>
            <a:pPr algn="l"/>
            <a:r>
              <a:rPr sz="1800" b="1" i="0">
                <a:solidFill>
                  <a:srgbClr val="4FC3F7"/>
                </a:solidFill>
                <a:latin typeface="Inter"/>
              </a:rPr>
              <a:t>Priya</a:t>
            </a:r>
          </a:p>
        </p:txBody>
      </p:sp>
      <p:sp>
        <p:nvSpPr>
          <p:cNvPr id="24" name="TextBox 23"/>
          <p:cNvSpPr txBox="1"/>
          <p:nvPr/>
        </p:nvSpPr>
        <p:spPr>
          <a:xfrm>
            <a:off x="8321040" y="2514600"/>
            <a:ext cx="3200400" cy="320040"/>
          </a:xfrm>
          <a:prstGeom prst="rect">
            <a:avLst/>
          </a:prstGeom>
          <a:noFill/>
        </p:spPr>
        <p:txBody>
          <a:bodyPr wrap="square">
            <a:spAutoFit/>
          </a:bodyPr>
          <a:lstStyle/>
          <a:p>
            <a:pPr algn="l"/>
            <a:r>
              <a:rPr sz="1100" b="1" i="0">
                <a:solidFill>
                  <a:srgbClr val="FFFFFF"/>
                </a:solidFill>
                <a:latin typeface="Inter"/>
              </a:rPr>
              <a:t>Finance Student</a:t>
            </a:r>
          </a:p>
        </p:txBody>
      </p:sp>
      <p:sp>
        <p:nvSpPr>
          <p:cNvPr id="25" name="TextBox 24"/>
          <p:cNvSpPr txBox="1"/>
          <p:nvPr/>
        </p:nvSpPr>
        <p:spPr>
          <a:xfrm>
            <a:off x="8321040" y="2834640"/>
            <a:ext cx="3200400" cy="274320"/>
          </a:xfrm>
          <a:prstGeom prst="rect">
            <a:avLst/>
          </a:prstGeom>
          <a:noFill/>
        </p:spPr>
        <p:txBody>
          <a:bodyPr wrap="square">
            <a:spAutoFit/>
          </a:bodyPr>
          <a:lstStyle/>
          <a:p>
            <a:pPr algn="l"/>
            <a:r>
              <a:rPr sz="1000" b="0" i="0">
                <a:solidFill>
                  <a:srgbClr val="7E8BA0"/>
                </a:solidFill>
                <a:latin typeface="Inter"/>
              </a:rPr>
              <a:t>Bangalore · University</a:t>
            </a:r>
          </a:p>
        </p:txBody>
      </p:sp>
      <p:sp>
        <p:nvSpPr>
          <p:cNvPr id="26" name="Rectangle 25"/>
          <p:cNvSpPr/>
          <p:nvPr/>
        </p:nvSpPr>
        <p:spPr>
          <a:xfrm>
            <a:off x="8321040" y="3200400"/>
            <a:ext cx="3200400" cy="9144"/>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3246120"/>
            <a:ext cx="3200400" cy="914400"/>
          </a:xfrm>
          <a:prstGeom prst="rect">
            <a:avLst/>
          </a:prstGeom>
          <a:noFill/>
        </p:spPr>
        <p:txBody>
          <a:bodyPr wrap="square">
            <a:spAutoFit/>
          </a:bodyPr>
          <a:lstStyle/>
          <a:p>
            <a:pPr algn="l"/>
            <a:r>
              <a:rPr sz="1100" b="0" i="0">
                <a:solidFill>
                  <a:srgbClr val="7E8BA0"/>
                </a:solidFill>
                <a:latin typeface="Inter"/>
              </a:rPr>
              <a:t>Apply Weinstein Stage and Elder Triple Screen to 556 real tickers for assignments.</a:t>
            </a:r>
          </a:p>
        </p:txBody>
      </p:sp>
      <p:sp>
        <p:nvSpPr>
          <p:cNvPr id="28" name="Rectangle 27"/>
          <p:cNvSpPr/>
          <p:nvPr/>
        </p:nvSpPr>
        <p:spPr>
          <a:xfrm>
            <a:off x="8321040" y="4251960"/>
            <a:ext cx="3200400" cy="173736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4343400"/>
            <a:ext cx="3017520" cy="1554480"/>
          </a:xfrm>
          <a:prstGeom prst="rect">
            <a:avLst/>
          </a:prstGeom>
          <a:noFill/>
        </p:spPr>
        <p:txBody>
          <a:bodyPr wrap="square">
            <a:spAutoFit/>
          </a:bodyPr>
          <a:lstStyle/>
          <a:p>
            <a:pPr algn="l"/>
            <a:r>
              <a:rPr sz="1100" b="0" i="1">
                <a:solidFill>
                  <a:srgbClr val="FFFFFF"/>
                </a:solidFill>
                <a:latin typeface="Inter"/>
              </a:rPr>
              <a:t>"I understand what Stage 2 looks like
on a real chart."</a:t>
            </a:r>
          </a:p>
        </p:txBody>
      </p:sp>
      <p:sp>
        <p:nvSpPr>
          <p:cNvPr id="30" name="TextBox 29"/>
          <p:cNvSpPr txBox="1"/>
          <p:nvPr/>
        </p:nvSpPr>
        <p:spPr>
          <a:xfrm>
            <a:off x="11430000" y="6492240"/>
            <a:ext cx="640080" cy="274320"/>
          </a:xfrm>
          <a:prstGeom prst="rect">
            <a:avLst/>
          </a:prstGeom>
          <a:noFill/>
        </p:spPr>
        <p:txBody>
          <a:bodyPr wrap="square">
            <a:spAutoFit/>
          </a:bodyPr>
          <a:lstStyle/>
          <a:p>
            <a:pPr algn="r"/>
            <a:r>
              <a:rPr sz="800" b="0" i="0">
                <a:solidFill>
                  <a:srgbClr val="7E8BA0"/>
                </a:solidFill>
                <a:latin typeface="Inter"/>
              </a:rPr>
              <a:t>7 /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73152" cy="68580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1371600"/>
            <a:ext cx="3657600" cy="274320"/>
          </a:xfrm>
          <a:prstGeom prst="rect">
            <a:avLst/>
          </a:prstGeom>
          <a:noFill/>
        </p:spPr>
        <p:txBody>
          <a:bodyPr wrap="square">
            <a:spAutoFit/>
          </a:bodyPr>
          <a:lstStyle/>
          <a:p>
            <a:pPr algn="l"/>
            <a:r>
              <a:rPr sz="900" b="1" i="0">
                <a:solidFill>
                  <a:srgbClr val="66BB6A"/>
                </a:solidFill>
                <a:latin typeface="JetBrains Mono"/>
              </a:rPr>
              <a:t>TRY IT NOW</a:t>
            </a:r>
          </a:p>
        </p:txBody>
      </p:sp>
      <p:sp>
        <p:nvSpPr>
          <p:cNvPr id="4" name="TextBox 3"/>
          <p:cNvSpPr txBox="1"/>
          <p:nvPr/>
        </p:nvSpPr>
        <p:spPr>
          <a:xfrm>
            <a:off x="1371600" y="1828800"/>
            <a:ext cx="9144000" cy="1828800"/>
          </a:xfrm>
          <a:prstGeom prst="rect">
            <a:avLst/>
          </a:prstGeom>
          <a:noFill/>
        </p:spPr>
        <p:txBody>
          <a:bodyPr wrap="square">
            <a:spAutoFit/>
          </a:bodyPr>
          <a:lstStyle/>
          <a:p>
            <a:pPr algn="ctr"/>
            <a:r>
              <a:rPr sz="4800" b="1" i="0">
                <a:solidFill>
                  <a:srgbClr val="FFFFFF"/>
                </a:solidFill>
                <a:latin typeface="Inter"/>
              </a:rPr>
              <a:t>Start analysing.
Free. Right now.</a:t>
            </a:r>
          </a:p>
        </p:txBody>
      </p:sp>
      <p:sp>
        <p:nvSpPr>
          <p:cNvPr id="5" name="TextBox 4"/>
          <p:cNvSpPr txBox="1"/>
          <p:nvPr/>
        </p:nvSpPr>
        <p:spPr>
          <a:xfrm>
            <a:off x="1371600" y="3749039"/>
            <a:ext cx="9144000" cy="457200"/>
          </a:xfrm>
          <a:prstGeom prst="rect">
            <a:avLst/>
          </a:prstGeom>
          <a:noFill/>
        </p:spPr>
        <p:txBody>
          <a:bodyPr wrap="square">
            <a:spAutoFit/>
          </a:bodyPr>
          <a:lstStyle/>
          <a:p>
            <a:pPr algn="ctr"/>
            <a:r>
              <a:rPr sz="1600" b="0" i="0">
                <a:solidFill>
                  <a:srgbClr val="7E8BA0"/>
                </a:solidFill>
                <a:latin typeface="Inter"/>
              </a:rPr>
              <a:t>No login. No signup. No subscription. Just open the dashboard.</a:t>
            </a:r>
          </a:p>
        </p:txBody>
      </p:sp>
      <p:sp>
        <p:nvSpPr>
          <p:cNvPr id="6" name="Rectangle 5"/>
          <p:cNvSpPr/>
          <p:nvPr/>
        </p:nvSpPr>
        <p:spPr>
          <a:xfrm>
            <a:off x="2926080" y="4434840"/>
            <a:ext cx="2743200" cy="64008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0" y="4434840"/>
            <a:ext cx="2743200" cy="640080"/>
          </a:xfrm>
          <a:prstGeom prst="rect">
            <a:avLst/>
          </a:prstGeom>
          <a:noFill/>
        </p:spPr>
        <p:txBody>
          <a:bodyPr wrap="square">
            <a:spAutoFit/>
          </a:bodyPr>
          <a:lstStyle/>
          <a:p>
            <a:pPr algn="ctr"/>
            <a:r>
              <a:rPr sz="1600" b="1" i="0">
                <a:solidFill>
                  <a:srgbClr val="0D1117"/>
                </a:solidFill>
                <a:latin typeface="Inter"/>
              </a:rPr>
              <a:t>Open Dashboard →</a:t>
            </a:r>
          </a:p>
        </p:txBody>
      </p:sp>
      <p:sp>
        <p:nvSpPr>
          <p:cNvPr id="8" name="Rectangle 7"/>
          <p:cNvSpPr/>
          <p:nvPr/>
        </p:nvSpPr>
        <p:spPr>
          <a:xfrm>
            <a:off x="6035040" y="4434840"/>
            <a:ext cx="2743200" cy="64008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0" y="4434840"/>
            <a:ext cx="2743200" cy="640080"/>
          </a:xfrm>
          <a:prstGeom prst="rect">
            <a:avLst/>
          </a:prstGeom>
          <a:noFill/>
        </p:spPr>
        <p:txBody>
          <a:bodyPr wrap="square">
            <a:spAutoFit/>
          </a:bodyPr>
          <a:lstStyle/>
          <a:p>
            <a:pPr algn="ctr"/>
            <a:r>
              <a:rPr sz="1600" b="1" i="0">
                <a:solidFill>
                  <a:srgbClr val="FFFFFF"/>
                </a:solidFill>
                <a:latin typeface="Inter"/>
              </a:rPr>
              <a:t>View on GitHub →</a:t>
            </a:r>
          </a:p>
        </p:txBody>
      </p:sp>
      <p:sp>
        <p:nvSpPr>
          <p:cNvPr id="10" name="TextBox 9"/>
          <p:cNvSpPr txBox="1"/>
          <p:nvPr/>
        </p:nvSpPr>
        <p:spPr>
          <a:xfrm>
            <a:off x="1371600" y="5394960"/>
            <a:ext cx="9144000" cy="320040"/>
          </a:xfrm>
          <a:prstGeom prst="rect">
            <a:avLst/>
          </a:prstGeom>
          <a:noFill/>
        </p:spPr>
        <p:txBody>
          <a:bodyPr wrap="square">
            <a:spAutoFit/>
          </a:bodyPr>
          <a:lstStyle/>
          <a:p>
            <a:pPr algn="ctr"/>
            <a:r>
              <a:rPr sz="1000" b="0" i="0">
                <a:solidFill>
                  <a:srgbClr val="7E8BA0"/>
                </a:solidFill>
                <a:latin typeface="Inter"/>
              </a:rPr>
              <a:t>Hosted on Streamlit Community Cloud  ·  Free tier  ·  May take 10–15s on cold start</a:t>
            </a:r>
          </a:p>
        </p:txBody>
      </p:sp>
      <p:sp>
        <p:nvSpPr>
          <p:cNvPr id="11" name="TextBox 10"/>
          <p:cNvSpPr txBox="1"/>
          <p:nvPr/>
        </p:nvSpPr>
        <p:spPr>
          <a:xfrm>
            <a:off x="11430000" y="6492240"/>
            <a:ext cx="640080" cy="274320"/>
          </a:xfrm>
          <a:prstGeom prst="rect">
            <a:avLst/>
          </a:prstGeom>
          <a:noFill/>
        </p:spPr>
        <p:txBody>
          <a:bodyPr wrap="square">
            <a:spAutoFit/>
          </a:bodyPr>
          <a:lstStyle/>
          <a:p>
            <a:pPr algn="r"/>
            <a:r>
              <a:rPr sz="800" b="0" i="0">
                <a:solidFill>
                  <a:srgbClr val="7E8BA0"/>
                </a:solidFill>
                <a:latin typeface="Inter"/>
              </a:rPr>
              <a:t>8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48640"/>
            <a:ext cx="2286000" cy="274320"/>
          </a:xfrm>
          <a:prstGeom prst="rect">
            <a:avLst/>
          </a:prstGeom>
          <a:noFill/>
        </p:spPr>
        <p:txBody>
          <a:bodyPr wrap="square">
            <a:spAutoFit/>
          </a:bodyPr>
          <a:lstStyle/>
          <a:p>
            <a:pPr algn="l"/>
            <a:r>
              <a:rPr sz="900" b="1" i="0">
                <a:solidFill>
                  <a:srgbClr val="FF8F00"/>
                </a:solidFill>
                <a:latin typeface="JetBrains Mono"/>
              </a:rPr>
              <a:t>IMPORTANT DISCLAIMER</a:t>
            </a:r>
          </a:p>
        </p:txBody>
      </p:sp>
      <p:sp>
        <p:nvSpPr>
          <p:cNvPr id="4" name="Rectangle 3"/>
          <p:cNvSpPr/>
          <p:nvPr/>
        </p:nvSpPr>
        <p:spPr>
          <a:xfrm>
            <a:off x="457200" y="1188720"/>
            <a:ext cx="11064240" cy="27432"/>
          </a:xfrm>
          <a:prstGeom prst="rect">
            <a:avLst/>
          </a:prstGeom>
          <a:solidFill>
            <a:srgbClr val="F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11155680" cy="5029200"/>
          </a:xfrm>
          <a:prstGeom prst="rect">
            <a:avLst/>
          </a:prstGeom>
          <a:noFill/>
        </p:spPr>
        <p:txBody>
          <a:bodyPr wrap="square">
            <a:spAutoFit/>
          </a:bodyPr>
          <a:lstStyle/>
          <a:p>
            <a:pPr algn="l"/>
            <a:r>
              <a:rPr sz="1300" b="0" i="0">
                <a:solidFill>
                  <a:srgbClr val="7E8BA0"/>
                </a:solidFill>
                <a:latin typeface="Inter"/>
              </a:rPr>
              <a:t>This tool is for educational and research purposes only. It is NOT a SEBI-registered investment adviser, research analyst, or financial planner. Nothing in this dashboard constitutes investment advice, a buy/sell recommendation, or a solicitation to trade any security.
All signals are algorithmically generated from quantitative calculations and should be used only as one input among many in your own research process.
Data is sourced via yfinance (Yahoo Finance) and carries a 15–20 minute delay for most markets. Data accuracy is not guaranteed. Verify independently before making any investment decision.
Use of this tool is subject to Yahoo Finance's Terms of Service.
NOT SEBI-registered  ·  NOT SEC-registered  ·  NOT FCA-registered  ·  NOT investment advice</a:t>
            </a:r>
          </a:p>
        </p:txBody>
      </p:sp>
      <p:sp>
        <p:nvSpPr>
          <p:cNvPr id="6" name="TextBox 5"/>
          <p:cNvSpPr txBox="1"/>
          <p:nvPr/>
        </p:nvSpPr>
        <p:spPr>
          <a:xfrm>
            <a:off x="11430000" y="6492240"/>
            <a:ext cx="640080" cy="274320"/>
          </a:xfrm>
          <a:prstGeom prst="rect">
            <a:avLst/>
          </a:prstGeom>
          <a:noFill/>
        </p:spPr>
        <p:txBody>
          <a:bodyPr wrap="square">
            <a:spAutoFit/>
          </a:bodyPr>
          <a:lstStyle/>
          <a:p>
            <a:pPr algn="r"/>
            <a:r>
              <a:rPr sz="800" b="0" i="0">
                <a:solidFill>
                  <a:srgbClr val="7E8BA0"/>
                </a:solidFill>
                <a:latin typeface="Inter"/>
              </a:rPr>
              <a:t>9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